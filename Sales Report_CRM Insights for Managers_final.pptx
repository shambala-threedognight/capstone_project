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1"/>
  </p:notesMasterIdLst>
  <p:handoutMasterIdLst>
    <p:handoutMasterId r:id="rId12"/>
  </p:handoutMasterIdLst>
  <p:sldIdLst>
    <p:sldId id="438" r:id="rId5"/>
    <p:sldId id="437" r:id="rId6"/>
    <p:sldId id="442" r:id="rId7"/>
    <p:sldId id="441" r:id="rId8"/>
    <p:sldId id="443" r:id="rId9"/>
    <p:sldId id="43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95441" autoAdjust="0"/>
  </p:normalViewPr>
  <p:slideViewPr>
    <p:cSldViewPr snapToGrid="0">
      <p:cViewPr varScale="1">
        <p:scale>
          <a:sx n="68" d="100"/>
          <a:sy n="68" d="100"/>
        </p:scale>
        <p:origin x="77" y="53"/>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871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586CC-182D-4EBB-873F-E9C28C65E79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3D05195-74A6-400B-A487-CFD40C8707FA}">
      <dgm:prSet custT="1"/>
      <dgm:spPr/>
      <dgm:t>
        <a:bodyPr/>
        <a:lstStyle/>
        <a:p>
          <a:r>
            <a:rPr lang="en-US" sz="2000" dirty="0">
              <a:latin typeface="Times New Roman" panose="02020603050405020304" pitchFamily="18" charset="0"/>
              <a:cs typeface="Times New Roman" panose="02020603050405020304" pitchFamily="18" charset="0"/>
            </a:rPr>
            <a:t>For this project, I analyzed Customer Relationship Management (CRM) sales data for </a:t>
          </a:r>
          <a:r>
            <a:rPr lang="en-US" sz="2000" dirty="0" err="1">
              <a:latin typeface="Times New Roman" panose="02020603050405020304" pitchFamily="18" charset="0"/>
              <a:cs typeface="Times New Roman" panose="02020603050405020304" pitchFamily="18" charset="0"/>
            </a:rPr>
            <a:t>MavenTech</a:t>
          </a:r>
          <a:r>
            <a:rPr lang="en-US" sz="2000" dirty="0">
              <a:latin typeface="Times New Roman" panose="02020603050405020304" pitchFamily="18" charset="0"/>
              <a:cs typeface="Times New Roman" panose="02020603050405020304" pitchFamily="18" charset="0"/>
            </a:rPr>
            <a:t>, a fictitious company that specializes in selling computer hardware to large businesses. They are using a new CRM system to track their sales opportunities, and they would like to use a data visualization tool outside of their CRM system.</a:t>
          </a:r>
        </a:p>
      </dgm:t>
    </dgm:pt>
    <dgm:pt modelId="{D0AFC5BD-D4CC-4E75-B0A6-CE22091A5813}" type="parTrans" cxnId="{DA5F6EC4-6C94-49E3-A92F-C115DFA605D7}">
      <dgm:prSet/>
      <dgm:spPr/>
      <dgm:t>
        <a:bodyPr/>
        <a:lstStyle/>
        <a:p>
          <a:endParaRPr lang="en-US"/>
        </a:p>
      </dgm:t>
    </dgm:pt>
    <dgm:pt modelId="{AAABCD6C-79F7-4D94-A1B2-A9E2FF68147A}" type="sibTrans" cxnId="{DA5F6EC4-6C94-49E3-A92F-C115DFA605D7}">
      <dgm:prSet/>
      <dgm:spPr/>
      <dgm:t>
        <a:bodyPr/>
        <a:lstStyle/>
        <a:p>
          <a:endParaRPr lang="en-US"/>
        </a:p>
      </dgm:t>
    </dgm:pt>
    <dgm:pt modelId="{FC6CD65F-B5A0-4FF2-A578-AFF067033DBC}">
      <dgm:prSet custT="1"/>
      <dgm:spPr/>
      <dgm:t>
        <a:bodyPr/>
        <a:lstStyle/>
        <a:p>
          <a:r>
            <a:rPr lang="en-US" sz="2000" dirty="0">
              <a:latin typeface="Times New Roman" panose="02020603050405020304" pitchFamily="18" charset="0"/>
              <a:cs typeface="Times New Roman" panose="02020603050405020304" pitchFamily="18" charset="0"/>
            </a:rPr>
            <a:t>The dataset contains records from October 20, 2016 to December 31, 2017. It includes details for sales opportunities with information such as the product, account, sales team, and whether the sale was won or lost. However, it does not include sales data for January or February 2017, which affects the results for the 2017 annual and Quarter 1 analyses in this report.</a:t>
          </a:r>
        </a:p>
      </dgm:t>
    </dgm:pt>
    <dgm:pt modelId="{5B407BA4-1232-4241-83AF-3A0F718A3CA7}" type="parTrans" cxnId="{E4ADF1A9-F7A2-4670-8E5D-DD2FBAC7DDDB}">
      <dgm:prSet/>
      <dgm:spPr/>
      <dgm:t>
        <a:bodyPr/>
        <a:lstStyle/>
        <a:p>
          <a:endParaRPr lang="en-US"/>
        </a:p>
      </dgm:t>
    </dgm:pt>
    <dgm:pt modelId="{F284DCF0-00BF-4F71-A227-A7F70D1A6ABA}" type="sibTrans" cxnId="{E4ADF1A9-F7A2-4670-8E5D-DD2FBAC7DDDB}">
      <dgm:prSet/>
      <dgm:spPr/>
      <dgm:t>
        <a:bodyPr/>
        <a:lstStyle/>
        <a:p>
          <a:endParaRPr lang="en-US"/>
        </a:p>
      </dgm:t>
    </dgm:pt>
    <dgm:pt modelId="{932A8EE1-230D-4259-B617-30533E18E701}">
      <dgm:prSet custT="1"/>
      <dgm:spPr/>
      <dgm:t>
        <a:bodyPr/>
        <a:lstStyle/>
        <a:p>
          <a:r>
            <a:rPr lang="en-US" sz="2000" dirty="0">
              <a:latin typeface="Times New Roman" panose="02020603050405020304" pitchFamily="18" charset="0"/>
              <a:cs typeface="Times New Roman" panose="02020603050405020304" pitchFamily="18" charset="0"/>
            </a:rPr>
            <a:t>I created an interactive Power BI Sales Report to empower sales managers to track their team’s quarterly performance. This report focuses on </a:t>
          </a:r>
          <a:r>
            <a:rPr lang="en-US" sz="2000" dirty="0" err="1">
              <a:latin typeface="Times New Roman" panose="02020603050405020304" pitchFamily="18" charset="0"/>
              <a:cs typeface="Times New Roman" panose="02020603050405020304" pitchFamily="18" charset="0"/>
            </a:rPr>
            <a:t>MavenTech’s</a:t>
          </a:r>
          <a:r>
            <a:rPr lang="en-US" sz="2000" dirty="0">
              <a:latin typeface="Times New Roman" panose="02020603050405020304" pitchFamily="18" charset="0"/>
              <a:cs typeface="Times New Roman" panose="02020603050405020304" pitchFamily="18" charset="0"/>
            </a:rPr>
            <a:t> sales in Quarter 4 of 2017.</a:t>
          </a:r>
        </a:p>
      </dgm:t>
    </dgm:pt>
    <dgm:pt modelId="{BDFF9F7D-A559-4240-9926-3B6ECF8915C4}" type="parTrans" cxnId="{DC8CCC4A-2D78-4170-A1E0-80F78188F629}">
      <dgm:prSet/>
      <dgm:spPr/>
      <dgm:t>
        <a:bodyPr/>
        <a:lstStyle/>
        <a:p>
          <a:endParaRPr lang="en-US"/>
        </a:p>
      </dgm:t>
    </dgm:pt>
    <dgm:pt modelId="{A17C5917-1E81-442E-A502-F054E504D383}" type="sibTrans" cxnId="{DC8CCC4A-2D78-4170-A1E0-80F78188F629}">
      <dgm:prSet/>
      <dgm:spPr/>
      <dgm:t>
        <a:bodyPr/>
        <a:lstStyle/>
        <a:p>
          <a:endParaRPr lang="en-US"/>
        </a:p>
      </dgm:t>
    </dgm:pt>
    <dgm:pt modelId="{EC7224D6-29A9-4C53-8AFA-BC30B0B18FD7}" type="pres">
      <dgm:prSet presAssocID="{721586CC-182D-4EBB-873F-E9C28C65E790}" presName="linear" presStyleCnt="0">
        <dgm:presLayoutVars>
          <dgm:animLvl val="lvl"/>
          <dgm:resizeHandles val="exact"/>
        </dgm:presLayoutVars>
      </dgm:prSet>
      <dgm:spPr/>
    </dgm:pt>
    <dgm:pt modelId="{57DD1889-D77F-44E9-BB8B-85AA011662E9}" type="pres">
      <dgm:prSet presAssocID="{43D05195-74A6-400B-A487-CFD40C8707FA}" presName="parentText" presStyleLbl="node1" presStyleIdx="0" presStyleCnt="3">
        <dgm:presLayoutVars>
          <dgm:chMax val="0"/>
          <dgm:bulletEnabled val="1"/>
        </dgm:presLayoutVars>
      </dgm:prSet>
      <dgm:spPr/>
    </dgm:pt>
    <dgm:pt modelId="{023E22A8-925E-40A8-AC2C-F53A8608E891}" type="pres">
      <dgm:prSet presAssocID="{AAABCD6C-79F7-4D94-A1B2-A9E2FF68147A}" presName="spacer" presStyleCnt="0"/>
      <dgm:spPr/>
    </dgm:pt>
    <dgm:pt modelId="{09DB566C-C770-43F4-836F-7A497E3C308D}" type="pres">
      <dgm:prSet presAssocID="{FC6CD65F-B5A0-4FF2-A578-AFF067033DBC}" presName="parentText" presStyleLbl="node1" presStyleIdx="1" presStyleCnt="3">
        <dgm:presLayoutVars>
          <dgm:chMax val="0"/>
          <dgm:bulletEnabled val="1"/>
        </dgm:presLayoutVars>
      </dgm:prSet>
      <dgm:spPr/>
    </dgm:pt>
    <dgm:pt modelId="{44BEA46C-5DE3-4034-97E7-DE909EB6A3B2}" type="pres">
      <dgm:prSet presAssocID="{F284DCF0-00BF-4F71-A227-A7F70D1A6ABA}" presName="spacer" presStyleCnt="0"/>
      <dgm:spPr/>
    </dgm:pt>
    <dgm:pt modelId="{2B5FACE8-19BB-44E7-98B4-DBEC1781C42C}" type="pres">
      <dgm:prSet presAssocID="{932A8EE1-230D-4259-B617-30533E18E701}" presName="parentText" presStyleLbl="node1" presStyleIdx="2" presStyleCnt="3">
        <dgm:presLayoutVars>
          <dgm:chMax val="0"/>
          <dgm:bulletEnabled val="1"/>
        </dgm:presLayoutVars>
      </dgm:prSet>
      <dgm:spPr/>
    </dgm:pt>
  </dgm:ptLst>
  <dgm:cxnLst>
    <dgm:cxn modelId="{334BFF1C-3A83-441F-9EC8-0246AF57D0A7}" type="presOf" srcId="{932A8EE1-230D-4259-B617-30533E18E701}" destId="{2B5FACE8-19BB-44E7-98B4-DBEC1781C42C}" srcOrd="0" destOrd="0" presId="urn:microsoft.com/office/officeart/2005/8/layout/vList2"/>
    <dgm:cxn modelId="{3C3CA238-DB6F-40DF-84A7-76CB2509A4EA}" type="presOf" srcId="{721586CC-182D-4EBB-873F-E9C28C65E790}" destId="{EC7224D6-29A9-4C53-8AFA-BC30B0B18FD7}" srcOrd="0" destOrd="0" presId="urn:microsoft.com/office/officeart/2005/8/layout/vList2"/>
    <dgm:cxn modelId="{2703035D-D57D-47FC-AABB-45DA371B336F}" type="presOf" srcId="{43D05195-74A6-400B-A487-CFD40C8707FA}" destId="{57DD1889-D77F-44E9-BB8B-85AA011662E9}" srcOrd="0" destOrd="0" presId="urn:microsoft.com/office/officeart/2005/8/layout/vList2"/>
    <dgm:cxn modelId="{1C807661-798D-45AB-BB22-F25B7C09F338}" type="presOf" srcId="{FC6CD65F-B5A0-4FF2-A578-AFF067033DBC}" destId="{09DB566C-C770-43F4-836F-7A497E3C308D}" srcOrd="0" destOrd="0" presId="urn:microsoft.com/office/officeart/2005/8/layout/vList2"/>
    <dgm:cxn modelId="{DC8CCC4A-2D78-4170-A1E0-80F78188F629}" srcId="{721586CC-182D-4EBB-873F-E9C28C65E790}" destId="{932A8EE1-230D-4259-B617-30533E18E701}" srcOrd="2" destOrd="0" parTransId="{BDFF9F7D-A559-4240-9926-3B6ECF8915C4}" sibTransId="{A17C5917-1E81-442E-A502-F054E504D383}"/>
    <dgm:cxn modelId="{E4ADF1A9-F7A2-4670-8E5D-DD2FBAC7DDDB}" srcId="{721586CC-182D-4EBB-873F-E9C28C65E790}" destId="{FC6CD65F-B5A0-4FF2-A578-AFF067033DBC}" srcOrd="1" destOrd="0" parTransId="{5B407BA4-1232-4241-83AF-3A0F718A3CA7}" sibTransId="{F284DCF0-00BF-4F71-A227-A7F70D1A6ABA}"/>
    <dgm:cxn modelId="{DA5F6EC4-6C94-49E3-A92F-C115DFA605D7}" srcId="{721586CC-182D-4EBB-873F-E9C28C65E790}" destId="{43D05195-74A6-400B-A487-CFD40C8707FA}" srcOrd="0" destOrd="0" parTransId="{D0AFC5BD-D4CC-4E75-B0A6-CE22091A5813}" sibTransId="{AAABCD6C-79F7-4D94-A1B2-A9E2FF68147A}"/>
    <dgm:cxn modelId="{B29DF45A-FB1C-498B-8007-2803605F323A}" type="presParOf" srcId="{EC7224D6-29A9-4C53-8AFA-BC30B0B18FD7}" destId="{57DD1889-D77F-44E9-BB8B-85AA011662E9}" srcOrd="0" destOrd="0" presId="urn:microsoft.com/office/officeart/2005/8/layout/vList2"/>
    <dgm:cxn modelId="{75C7E5A8-DD87-4533-AE4B-00074F7881A5}" type="presParOf" srcId="{EC7224D6-29A9-4C53-8AFA-BC30B0B18FD7}" destId="{023E22A8-925E-40A8-AC2C-F53A8608E891}" srcOrd="1" destOrd="0" presId="urn:microsoft.com/office/officeart/2005/8/layout/vList2"/>
    <dgm:cxn modelId="{5DA9CE2B-D034-45B2-AD89-608823983A36}" type="presParOf" srcId="{EC7224D6-29A9-4C53-8AFA-BC30B0B18FD7}" destId="{09DB566C-C770-43F4-836F-7A497E3C308D}" srcOrd="2" destOrd="0" presId="urn:microsoft.com/office/officeart/2005/8/layout/vList2"/>
    <dgm:cxn modelId="{828C4C21-2E9A-4955-A957-AE1956318EC1}" type="presParOf" srcId="{EC7224D6-29A9-4C53-8AFA-BC30B0B18FD7}" destId="{44BEA46C-5DE3-4034-97E7-DE909EB6A3B2}" srcOrd="3" destOrd="0" presId="urn:microsoft.com/office/officeart/2005/8/layout/vList2"/>
    <dgm:cxn modelId="{A7AE523A-1C4F-40BB-A688-DC7544A0CE0B}" type="presParOf" srcId="{EC7224D6-29A9-4C53-8AFA-BC30B0B18FD7}" destId="{2B5FACE8-19BB-44E7-98B4-DBEC1781C42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1586CC-182D-4EBB-873F-E9C28C65E79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3D05195-74A6-400B-A487-CFD40C8707FA}">
      <dgm:prSet custT="1"/>
      <dgm:spPr/>
      <dgm:t>
        <a:bodyPr/>
        <a:lstStyle/>
        <a:p>
          <a:r>
            <a:rPr lang="en-US" sz="2800" dirty="0"/>
            <a:t>Meet or exceed Key Performance Indicators (KPIs),</a:t>
          </a:r>
        </a:p>
      </dgm:t>
    </dgm:pt>
    <dgm:pt modelId="{D0AFC5BD-D4CC-4E75-B0A6-CE22091A5813}" type="parTrans" cxnId="{DA5F6EC4-6C94-49E3-A92F-C115DFA605D7}">
      <dgm:prSet/>
      <dgm:spPr/>
      <dgm:t>
        <a:bodyPr/>
        <a:lstStyle/>
        <a:p>
          <a:endParaRPr lang="en-US"/>
        </a:p>
      </dgm:t>
    </dgm:pt>
    <dgm:pt modelId="{AAABCD6C-79F7-4D94-A1B2-A9E2FF68147A}" type="sibTrans" cxnId="{DA5F6EC4-6C94-49E3-A92F-C115DFA605D7}">
      <dgm:prSet/>
      <dgm:spPr/>
      <dgm:t>
        <a:bodyPr/>
        <a:lstStyle/>
        <a:p>
          <a:endParaRPr lang="en-US"/>
        </a:p>
      </dgm:t>
    </dgm:pt>
    <dgm:pt modelId="{FC6CD65F-B5A0-4FF2-A578-AFF067033DBC}">
      <dgm:prSet custT="1"/>
      <dgm:spPr/>
      <dgm:t>
        <a:bodyPr/>
        <a:lstStyle/>
        <a:p>
          <a:r>
            <a:rPr lang="en-US" sz="2800" dirty="0"/>
            <a:t>Understand the current insights about their team, and</a:t>
          </a:r>
        </a:p>
      </dgm:t>
    </dgm:pt>
    <dgm:pt modelId="{5B407BA4-1232-4241-83AF-3A0F718A3CA7}" type="parTrans" cxnId="{E4ADF1A9-F7A2-4670-8E5D-DD2FBAC7DDDB}">
      <dgm:prSet/>
      <dgm:spPr/>
      <dgm:t>
        <a:bodyPr/>
        <a:lstStyle/>
        <a:p>
          <a:endParaRPr lang="en-US"/>
        </a:p>
      </dgm:t>
    </dgm:pt>
    <dgm:pt modelId="{F284DCF0-00BF-4F71-A227-A7F70D1A6ABA}" type="sibTrans" cxnId="{E4ADF1A9-F7A2-4670-8E5D-DD2FBAC7DDDB}">
      <dgm:prSet/>
      <dgm:spPr/>
      <dgm:t>
        <a:bodyPr/>
        <a:lstStyle/>
        <a:p>
          <a:endParaRPr lang="en-US"/>
        </a:p>
      </dgm:t>
    </dgm:pt>
    <dgm:pt modelId="{932A8EE1-230D-4259-B617-30533E18E701}">
      <dgm:prSet custT="1"/>
      <dgm:spPr/>
      <dgm:t>
        <a:bodyPr/>
        <a:lstStyle/>
        <a:p>
          <a:r>
            <a:rPr lang="en-US" sz="2800" dirty="0"/>
            <a:t>Obtain actionable information.</a:t>
          </a:r>
        </a:p>
      </dgm:t>
    </dgm:pt>
    <dgm:pt modelId="{BDFF9F7D-A559-4240-9926-3B6ECF8915C4}" type="parTrans" cxnId="{DC8CCC4A-2D78-4170-A1E0-80F78188F629}">
      <dgm:prSet/>
      <dgm:spPr/>
      <dgm:t>
        <a:bodyPr/>
        <a:lstStyle/>
        <a:p>
          <a:endParaRPr lang="en-US"/>
        </a:p>
      </dgm:t>
    </dgm:pt>
    <dgm:pt modelId="{A17C5917-1E81-442E-A502-F054E504D383}" type="sibTrans" cxnId="{DC8CCC4A-2D78-4170-A1E0-80F78188F629}">
      <dgm:prSet/>
      <dgm:spPr/>
      <dgm:t>
        <a:bodyPr/>
        <a:lstStyle/>
        <a:p>
          <a:endParaRPr lang="en-US"/>
        </a:p>
      </dgm:t>
    </dgm:pt>
    <dgm:pt modelId="{EC7224D6-29A9-4C53-8AFA-BC30B0B18FD7}" type="pres">
      <dgm:prSet presAssocID="{721586CC-182D-4EBB-873F-E9C28C65E790}" presName="linear" presStyleCnt="0">
        <dgm:presLayoutVars>
          <dgm:animLvl val="lvl"/>
          <dgm:resizeHandles val="exact"/>
        </dgm:presLayoutVars>
      </dgm:prSet>
      <dgm:spPr/>
    </dgm:pt>
    <dgm:pt modelId="{57DD1889-D77F-44E9-BB8B-85AA011662E9}" type="pres">
      <dgm:prSet presAssocID="{43D05195-74A6-400B-A487-CFD40C8707FA}" presName="parentText" presStyleLbl="node1" presStyleIdx="0" presStyleCnt="3" custLinFactNeighborX="80">
        <dgm:presLayoutVars>
          <dgm:chMax val="0"/>
          <dgm:bulletEnabled val="1"/>
        </dgm:presLayoutVars>
      </dgm:prSet>
      <dgm:spPr/>
    </dgm:pt>
    <dgm:pt modelId="{023E22A8-925E-40A8-AC2C-F53A8608E891}" type="pres">
      <dgm:prSet presAssocID="{AAABCD6C-79F7-4D94-A1B2-A9E2FF68147A}" presName="spacer" presStyleCnt="0"/>
      <dgm:spPr/>
    </dgm:pt>
    <dgm:pt modelId="{09DB566C-C770-43F4-836F-7A497E3C308D}" type="pres">
      <dgm:prSet presAssocID="{FC6CD65F-B5A0-4FF2-A578-AFF067033DBC}" presName="parentText" presStyleLbl="node1" presStyleIdx="1" presStyleCnt="3">
        <dgm:presLayoutVars>
          <dgm:chMax val="0"/>
          <dgm:bulletEnabled val="1"/>
        </dgm:presLayoutVars>
      </dgm:prSet>
      <dgm:spPr/>
    </dgm:pt>
    <dgm:pt modelId="{44BEA46C-5DE3-4034-97E7-DE909EB6A3B2}" type="pres">
      <dgm:prSet presAssocID="{F284DCF0-00BF-4F71-A227-A7F70D1A6ABA}" presName="spacer" presStyleCnt="0"/>
      <dgm:spPr/>
    </dgm:pt>
    <dgm:pt modelId="{2B5FACE8-19BB-44E7-98B4-DBEC1781C42C}" type="pres">
      <dgm:prSet presAssocID="{932A8EE1-230D-4259-B617-30533E18E701}" presName="parentText" presStyleLbl="node1" presStyleIdx="2" presStyleCnt="3">
        <dgm:presLayoutVars>
          <dgm:chMax val="0"/>
          <dgm:bulletEnabled val="1"/>
        </dgm:presLayoutVars>
      </dgm:prSet>
      <dgm:spPr/>
    </dgm:pt>
  </dgm:ptLst>
  <dgm:cxnLst>
    <dgm:cxn modelId="{334BFF1C-3A83-441F-9EC8-0246AF57D0A7}" type="presOf" srcId="{932A8EE1-230D-4259-B617-30533E18E701}" destId="{2B5FACE8-19BB-44E7-98B4-DBEC1781C42C}" srcOrd="0" destOrd="0" presId="urn:microsoft.com/office/officeart/2005/8/layout/vList2"/>
    <dgm:cxn modelId="{3C3CA238-DB6F-40DF-84A7-76CB2509A4EA}" type="presOf" srcId="{721586CC-182D-4EBB-873F-E9C28C65E790}" destId="{EC7224D6-29A9-4C53-8AFA-BC30B0B18FD7}" srcOrd="0" destOrd="0" presId="urn:microsoft.com/office/officeart/2005/8/layout/vList2"/>
    <dgm:cxn modelId="{2703035D-D57D-47FC-AABB-45DA371B336F}" type="presOf" srcId="{43D05195-74A6-400B-A487-CFD40C8707FA}" destId="{57DD1889-D77F-44E9-BB8B-85AA011662E9}" srcOrd="0" destOrd="0" presId="urn:microsoft.com/office/officeart/2005/8/layout/vList2"/>
    <dgm:cxn modelId="{1C807661-798D-45AB-BB22-F25B7C09F338}" type="presOf" srcId="{FC6CD65F-B5A0-4FF2-A578-AFF067033DBC}" destId="{09DB566C-C770-43F4-836F-7A497E3C308D}" srcOrd="0" destOrd="0" presId="urn:microsoft.com/office/officeart/2005/8/layout/vList2"/>
    <dgm:cxn modelId="{DC8CCC4A-2D78-4170-A1E0-80F78188F629}" srcId="{721586CC-182D-4EBB-873F-E9C28C65E790}" destId="{932A8EE1-230D-4259-B617-30533E18E701}" srcOrd="2" destOrd="0" parTransId="{BDFF9F7D-A559-4240-9926-3B6ECF8915C4}" sibTransId="{A17C5917-1E81-442E-A502-F054E504D383}"/>
    <dgm:cxn modelId="{E4ADF1A9-F7A2-4670-8E5D-DD2FBAC7DDDB}" srcId="{721586CC-182D-4EBB-873F-E9C28C65E790}" destId="{FC6CD65F-B5A0-4FF2-A578-AFF067033DBC}" srcOrd="1" destOrd="0" parTransId="{5B407BA4-1232-4241-83AF-3A0F718A3CA7}" sibTransId="{F284DCF0-00BF-4F71-A227-A7F70D1A6ABA}"/>
    <dgm:cxn modelId="{DA5F6EC4-6C94-49E3-A92F-C115DFA605D7}" srcId="{721586CC-182D-4EBB-873F-E9C28C65E790}" destId="{43D05195-74A6-400B-A487-CFD40C8707FA}" srcOrd="0" destOrd="0" parTransId="{D0AFC5BD-D4CC-4E75-B0A6-CE22091A5813}" sibTransId="{AAABCD6C-79F7-4D94-A1B2-A9E2FF68147A}"/>
    <dgm:cxn modelId="{B29DF45A-FB1C-498B-8007-2803605F323A}" type="presParOf" srcId="{EC7224D6-29A9-4C53-8AFA-BC30B0B18FD7}" destId="{57DD1889-D77F-44E9-BB8B-85AA011662E9}" srcOrd="0" destOrd="0" presId="urn:microsoft.com/office/officeart/2005/8/layout/vList2"/>
    <dgm:cxn modelId="{75C7E5A8-DD87-4533-AE4B-00074F7881A5}" type="presParOf" srcId="{EC7224D6-29A9-4C53-8AFA-BC30B0B18FD7}" destId="{023E22A8-925E-40A8-AC2C-F53A8608E891}" srcOrd="1" destOrd="0" presId="urn:microsoft.com/office/officeart/2005/8/layout/vList2"/>
    <dgm:cxn modelId="{5DA9CE2B-D034-45B2-AD89-608823983A36}" type="presParOf" srcId="{EC7224D6-29A9-4C53-8AFA-BC30B0B18FD7}" destId="{09DB566C-C770-43F4-836F-7A497E3C308D}" srcOrd="2" destOrd="0" presId="urn:microsoft.com/office/officeart/2005/8/layout/vList2"/>
    <dgm:cxn modelId="{828C4C21-2E9A-4955-A957-AE1956318EC1}" type="presParOf" srcId="{EC7224D6-29A9-4C53-8AFA-BC30B0B18FD7}" destId="{44BEA46C-5DE3-4034-97E7-DE909EB6A3B2}" srcOrd="3" destOrd="0" presId="urn:microsoft.com/office/officeart/2005/8/layout/vList2"/>
    <dgm:cxn modelId="{A7AE523A-1C4F-40BB-A688-DC7544A0CE0B}" type="presParOf" srcId="{EC7224D6-29A9-4C53-8AFA-BC30B0B18FD7}" destId="{2B5FACE8-19BB-44E7-98B4-DBEC1781C42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1586CC-182D-4EBB-873F-E9C28C65E79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3D05195-74A6-400B-A487-CFD40C8707FA}">
      <dgm:prSet/>
      <dgm:spPr/>
      <dgm:t>
        <a:bodyPr/>
        <a:lstStyle/>
        <a:p>
          <a:r>
            <a:rPr lang="en-US" dirty="0"/>
            <a:t>How is my team (as a whole and individual team members) doing based on our Key Performance Indicators (KPIs)?</a:t>
          </a:r>
        </a:p>
      </dgm:t>
    </dgm:pt>
    <dgm:pt modelId="{D0AFC5BD-D4CC-4E75-B0A6-CE22091A5813}" type="parTrans" cxnId="{DA5F6EC4-6C94-49E3-A92F-C115DFA605D7}">
      <dgm:prSet/>
      <dgm:spPr/>
      <dgm:t>
        <a:bodyPr/>
        <a:lstStyle/>
        <a:p>
          <a:endParaRPr lang="en-US"/>
        </a:p>
      </dgm:t>
    </dgm:pt>
    <dgm:pt modelId="{AAABCD6C-79F7-4D94-A1B2-A9E2FF68147A}" type="sibTrans" cxnId="{DA5F6EC4-6C94-49E3-A92F-C115DFA605D7}">
      <dgm:prSet/>
      <dgm:spPr/>
      <dgm:t>
        <a:bodyPr/>
        <a:lstStyle/>
        <a:p>
          <a:endParaRPr lang="en-US"/>
        </a:p>
      </dgm:t>
    </dgm:pt>
    <dgm:pt modelId="{FC6CD65F-B5A0-4FF2-A578-AFF067033DBC}">
      <dgm:prSet/>
      <dgm:spPr/>
      <dgm:t>
        <a:bodyPr/>
        <a:lstStyle/>
        <a:p>
          <a:r>
            <a:rPr lang="en-US" dirty="0"/>
            <a:t>Are there team members who need extra support in certain areas? </a:t>
          </a:r>
        </a:p>
      </dgm:t>
    </dgm:pt>
    <dgm:pt modelId="{5B407BA4-1232-4241-83AF-3A0F718A3CA7}" type="parTrans" cxnId="{E4ADF1A9-F7A2-4670-8E5D-DD2FBAC7DDDB}">
      <dgm:prSet/>
      <dgm:spPr/>
      <dgm:t>
        <a:bodyPr/>
        <a:lstStyle/>
        <a:p>
          <a:endParaRPr lang="en-US"/>
        </a:p>
      </dgm:t>
    </dgm:pt>
    <dgm:pt modelId="{F284DCF0-00BF-4F71-A227-A7F70D1A6ABA}" type="sibTrans" cxnId="{E4ADF1A9-F7A2-4670-8E5D-DD2FBAC7DDDB}">
      <dgm:prSet/>
      <dgm:spPr/>
      <dgm:t>
        <a:bodyPr/>
        <a:lstStyle/>
        <a:p>
          <a:endParaRPr lang="en-US"/>
        </a:p>
      </dgm:t>
    </dgm:pt>
    <dgm:pt modelId="{932A8EE1-230D-4259-B617-30533E18E701}">
      <dgm:prSet/>
      <dgm:spPr/>
      <dgm:t>
        <a:bodyPr/>
        <a:lstStyle/>
        <a:p>
          <a:r>
            <a:rPr lang="en-US" dirty="0"/>
            <a:t>Where should we focus our efforts to improve performance? </a:t>
          </a:r>
        </a:p>
      </dgm:t>
    </dgm:pt>
    <dgm:pt modelId="{BDFF9F7D-A559-4240-9926-3B6ECF8915C4}" type="parTrans" cxnId="{DC8CCC4A-2D78-4170-A1E0-80F78188F629}">
      <dgm:prSet/>
      <dgm:spPr/>
      <dgm:t>
        <a:bodyPr/>
        <a:lstStyle/>
        <a:p>
          <a:endParaRPr lang="en-US"/>
        </a:p>
      </dgm:t>
    </dgm:pt>
    <dgm:pt modelId="{A17C5917-1E81-442E-A502-F054E504D383}" type="sibTrans" cxnId="{DC8CCC4A-2D78-4170-A1E0-80F78188F629}">
      <dgm:prSet/>
      <dgm:spPr/>
      <dgm:t>
        <a:bodyPr/>
        <a:lstStyle/>
        <a:p>
          <a:endParaRPr lang="en-US"/>
        </a:p>
      </dgm:t>
    </dgm:pt>
    <dgm:pt modelId="{EEAF81C1-FB32-40F2-A932-2F60AC20B42D}">
      <dgm:prSet/>
      <dgm:spPr/>
      <dgm:t>
        <a:bodyPr/>
        <a:lstStyle/>
        <a:p>
          <a:r>
            <a:rPr lang="en-US" dirty="0"/>
            <a:t>Is my team performing above average compared to the rest of the teams?</a:t>
          </a:r>
        </a:p>
      </dgm:t>
    </dgm:pt>
    <dgm:pt modelId="{54948963-5998-4C8D-B996-694C4613870C}" type="parTrans" cxnId="{FFDB96AB-1159-44C8-BF6E-62684A848D1E}">
      <dgm:prSet/>
      <dgm:spPr/>
      <dgm:t>
        <a:bodyPr/>
        <a:lstStyle/>
        <a:p>
          <a:endParaRPr lang="en-US"/>
        </a:p>
      </dgm:t>
    </dgm:pt>
    <dgm:pt modelId="{14461A53-A494-47D5-8B53-00D13AA9A36C}" type="sibTrans" cxnId="{FFDB96AB-1159-44C8-BF6E-62684A848D1E}">
      <dgm:prSet/>
      <dgm:spPr/>
      <dgm:t>
        <a:bodyPr/>
        <a:lstStyle/>
        <a:p>
          <a:endParaRPr lang="en-US"/>
        </a:p>
      </dgm:t>
    </dgm:pt>
    <dgm:pt modelId="{4B98FA82-476E-4159-BDC0-FF231FB48A88}" type="pres">
      <dgm:prSet presAssocID="{721586CC-182D-4EBB-873F-E9C28C65E790}" presName="linear" presStyleCnt="0">
        <dgm:presLayoutVars>
          <dgm:animLvl val="lvl"/>
          <dgm:resizeHandles val="exact"/>
        </dgm:presLayoutVars>
      </dgm:prSet>
      <dgm:spPr/>
    </dgm:pt>
    <dgm:pt modelId="{04DDA2A2-FF54-4063-803F-D977E125E75A}" type="pres">
      <dgm:prSet presAssocID="{43D05195-74A6-400B-A487-CFD40C8707FA}" presName="parentText" presStyleLbl="node1" presStyleIdx="0" presStyleCnt="4" custScaleY="111955">
        <dgm:presLayoutVars>
          <dgm:chMax val="0"/>
          <dgm:bulletEnabled val="1"/>
        </dgm:presLayoutVars>
      </dgm:prSet>
      <dgm:spPr/>
    </dgm:pt>
    <dgm:pt modelId="{B92B6578-BB51-4D3E-8C89-ECCF48620F36}" type="pres">
      <dgm:prSet presAssocID="{AAABCD6C-79F7-4D94-A1B2-A9E2FF68147A}" presName="spacer" presStyleCnt="0"/>
      <dgm:spPr/>
    </dgm:pt>
    <dgm:pt modelId="{3ECB6171-FCE7-4886-99B8-A96AD633BB68}" type="pres">
      <dgm:prSet presAssocID="{FC6CD65F-B5A0-4FF2-A578-AFF067033DBC}" presName="parentText" presStyleLbl="node1" presStyleIdx="1" presStyleCnt="4">
        <dgm:presLayoutVars>
          <dgm:chMax val="0"/>
          <dgm:bulletEnabled val="1"/>
        </dgm:presLayoutVars>
      </dgm:prSet>
      <dgm:spPr/>
    </dgm:pt>
    <dgm:pt modelId="{68B834C7-A200-4978-850A-CC9525A8404A}" type="pres">
      <dgm:prSet presAssocID="{F284DCF0-00BF-4F71-A227-A7F70D1A6ABA}" presName="spacer" presStyleCnt="0"/>
      <dgm:spPr/>
    </dgm:pt>
    <dgm:pt modelId="{51CF21BA-B8EC-42B1-BA71-3ED410E397A9}" type="pres">
      <dgm:prSet presAssocID="{932A8EE1-230D-4259-B617-30533E18E701}" presName="parentText" presStyleLbl="node1" presStyleIdx="2" presStyleCnt="4" custScaleY="95806">
        <dgm:presLayoutVars>
          <dgm:chMax val="0"/>
          <dgm:bulletEnabled val="1"/>
        </dgm:presLayoutVars>
      </dgm:prSet>
      <dgm:spPr/>
    </dgm:pt>
    <dgm:pt modelId="{F7349CC8-8981-4DFA-BC3D-CF0D1DF833B3}" type="pres">
      <dgm:prSet presAssocID="{A17C5917-1E81-442E-A502-F054E504D383}" presName="spacer" presStyleCnt="0"/>
      <dgm:spPr/>
    </dgm:pt>
    <dgm:pt modelId="{994117F4-6838-4A13-B5D7-C3BFB9AF2959}" type="pres">
      <dgm:prSet presAssocID="{EEAF81C1-FB32-40F2-A932-2F60AC20B42D}" presName="parentText" presStyleLbl="node1" presStyleIdx="3" presStyleCnt="4">
        <dgm:presLayoutVars>
          <dgm:chMax val="0"/>
          <dgm:bulletEnabled val="1"/>
        </dgm:presLayoutVars>
      </dgm:prSet>
      <dgm:spPr/>
    </dgm:pt>
  </dgm:ptLst>
  <dgm:cxnLst>
    <dgm:cxn modelId="{DC8CCC4A-2D78-4170-A1E0-80F78188F629}" srcId="{721586CC-182D-4EBB-873F-E9C28C65E790}" destId="{932A8EE1-230D-4259-B617-30533E18E701}" srcOrd="2" destOrd="0" parTransId="{BDFF9F7D-A559-4240-9926-3B6ECF8915C4}" sibTransId="{A17C5917-1E81-442E-A502-F054E504D383}"/>
    <dgm:cxn modelId="{41268D7E-279D-4619-8E8F-92DFCC0F9235}" type="presOf" srcId="{EEAF81C1-FB32-40F2-A932-2F60AC20B42D}" destId="{994117F4-6838-4A13-B5D7-C3BFB9AF2959}" srcOrd="0" destOrd="0" presId="urn:microsoft.com/office/officeart/2005/8/layout/vList2"/>
    <dgm:cxn modelId="{0843BF8C-FFC8-4D93-936A-2FCD5BC7C9FC}" type="presOf" srcId="{932A8EE1-230D-4259-B617-30533E18E701}" destId="{51CF21BA-B8EC-42B1-BA71-3ED410E397A9}" srcOrd="0" destOrd="0" presId="urn:microsoft.com/office/officeart/2005/8/layout/vList2"/>
    <dgm:cxn modelId="{E4ADF1A9-F7A2-4670-8E5D-DD2FBAC7DDDB}" srcId="{721586CC-182D-4EBB-873F-E9C28C65E790}" destId="{FC6CD65F-B5A0-4FF2-A578-AFF067033DBC}" srcOrd="1" destOrd="0" parTransId="{5B407BA4-1232-4241-83AF-3A0F718A3CA7}" sibTransId="{F284DCF0-00BF-4F71-A227-A7F70D1A6ABA}"/>
    <dgm:cxn modelId="{FFDB96AB-1159-44C8-BF6E-62684A848D1E}" srcId="{721586CC-182D-4EBB-873F-E9C28C65E790}" destId="{EEAF81C1-FB32-40F2-A932-2F60AC20B42D}" srcOrd="3" destOrd="0" parTransId="{54948963-5998-4C8D-B996-694C4613870C}" sibTransId="{14461A53-A494-47D5-8B53-00D13AA9A36C}"/>
    <dgm:cxn modelId="{DA5F6EC4-6C94-49E3-A92F-C115DFA605D7}" srcId="{721586CC-182D-4EBB-873F-E9C28C65E790}" destId="{43D05195-74A6-400B-A487-CFD40C8707FA}" srcOrd="0" destOrd="0" parTransId="{D0AFC5BD-D4CC-4E75-B0A6-CE22091A5813}" sibTransId="{AAABCD6C-79F7-4D94-A1B2-A9E2FF68147A}"/>
    <dgm:cxn modelId="{5FC751C7-0616-4EC6-8135-3D72E1DBE897}" type="presOf" srcId="{43D05195-74A6-400B-A487-CFD40C8707FA}" destId="{04DDA2A2-FF54-4063-803F-D977E125E75A}" srcOrd="0" destOrd="0" presId="urn:microsoft.com/office/officeart/2005/8/layout/vList2"/>
    <dgm:cxn modelId="{202710DD-68A2-40D0-8557-5EA80706516C}" type="presOf" srcId="{FC6CD65F-B5A0-4FF2-A578-AFF067033DBC}" destId="{3ECB6171-FCE7-4886-99B8-A96AD633BB68}" srcOrd="0" destOrd="0" presId="urn:microsoft.com/office/officeart/2005/8/layout/vList2"/>
    <dgm:cxn modelId="{C0975DE0-BDA9-46B5-8D22-F851EBD7794B}" type="presOf" srcId="{721586CC-182D-4EBB-873F-E9C28C65E790}" destId="{4B98FA82-476E-4159-BDC0-FF231FB48A88}" srcOrd="0" destOrd="0" presId="urn:microsoft.com/office/officeart/2005/8/layout/vList2"/>
    <dgm:cxn modelId="{15C1503B-8EB5-4D83-B765-B50E6B013014}" type="presParOf" srcId="{4B98FA82-476E-4159-BDC0-FF231FB48A88}" destId="{04DDA2A2-FF54-4063-803F-D977E125E75A}" srcOrd="0" destOrd="0" presId="urn:microsoft.com/office/officeart/2005/8/layout/vList2"/>
    <dgm:cxn modelId="{CE522906-DBF4-414C-A1D4-3C42E1479E54}" type="presParOf" srcId="{4B98FA82-476E-4159-BDC0-FF231FB48A88}" destId="{B92B6578-BB51-4D3E-8C89-ECCF48620F36}" srcOrd="1" destOrd="0" presId="urn:microsoft.com/office/officeart/2005/8/layout/vList2"/>
    <dgm:cxn modelId="{5E60A07F-8762-4485-B45D-8CE16AD05573}" type="presParOf" srcId="{4B98FA82-476E-4159-BDC0-FF231FB48A88}" destId="{3ECB6171-FCE7-4886-99B8-A96AD633BB68}" srcOrd="2" destOrd="0" presId="urn:microsoft.com/office/officeart/2005/8/layout/vList2"/>
    <dgm:cxn modelId="{3E6E506F-205A-4B36-A04C-1A5B5BDB6A85}" type="presParOf" srcId="{4B98FA82-476E-4159-BDC0-FF231FB48A88}" destId="{68B834C7-A200-4978-850A-CC9525A8404A}" srcOrd="3" destOrd="0" presId="urn:microsoft.com/office/officeart/2005/8/layout/vList2"/>
    <dgm:cxn modelId="{6AD74653-D49C-4B5C-899D-4F5E4EE6889C}" type="presParOf" srcId="{4B98FA82-476E-4159-BDC0-FF231FB48A88}" destId="{51CF21BA-B8EC-42B1-BA71-3ED410E397A9}" srcOrd="4" destOrd="0" presId="urn:microsoft.com/office/officeart/2005/8/layout/vList2"/>
    <dgm:cxn modelId="{530E3069-9951-45D4-A6E1-4C2FE6C80A89}" type="presParOf" srcId="{4B98FA82-476E-4159-BDC0-FF231FB48A88}" destId="{F7349CC8-8981-4DFA-BC3D-CF0D1DF833B3}" srcOrd="5" destOrd="0" presId="urn:microsoft.com/office/officeart/2005/8/layout/vList2"/>
    <dgm:cxn modelId="{94FB274A-7C97-4941-BED0-B4C31C134D07}" type="presParOf" srcId="{4B98FA82-476E-4159-BDC0-FF231FB48A88}" destId="{994117F4-6838-4A13-B5D7-C3BFB9AF295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D1889-D77F-44E9-BB8B-85AA011662E9}">
      <dsp:nvSpPr>
        <dsp:cNvPr id="0" name=""/>
        <dsp:cNvSpPr/>
      </dsp:nvSpPr>
      <dsp:spPr>
        <a:xfrm>
          <a:off x="0" y="602"/>
          <a:ext cx="7581081" cy="187294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For this project, I analyzed Customer Relationship Management (CRM) sales data for </a:t>
          </a:r>
          <a:r>
            <a:rPr lang="en-US" sz="2000" kern="1200" dirty="0" err="1">
              <a:latin typeface="Times New Roman" panose="02020603050405020304" pitchFamily="18" charset="0"/>
              <a:cs typeface="Times New Roman" panose="02020603050405020304" pitchFamily="18" charset="0"/>
            </a:rPr>
            <a:t>MavenTech</a:t>
          </a:r>
          <a:r>
            <a:rPr lang="en-US" sz="2000" kern="1200" dirty="0">
              <a:latin typeface="Times New Roman" panose="02020603050405020304" pitchFamily="18" charset="0"/>
              <a:cs typeface="Times New Roman" panose="02020603050405020304" pitchFamily="18" charset="0"/>
            </a:rPr>
            <a:t>, a fictitious company that specializes in selling computer hardware to large businesses. They are using a new CRM system to track their sales opportunities, and they would like to use a data visualization tool outside of their CRM system.</a:t>
          </a:r>
        </a:p>
      </dsp:txBody>
      <dsp:txXfrm>
        <a:off x="91429" y="92031"/>
        <a:ext cx="7398223" cy="1690084"/>
      </dsp:txXfrm>
    </dsp:sp>
    <dsp:sp modelId="{09DB566C-C770-43F4-836F-7A497E3C308D}">
      <dsp:nvSpPr>
        <dsp:cNvPr id="0" name=""/>
        <dsp:cNvSpPr/>
      </dsp:nvSpPr>
      <dsp:spPr>
        <a:xfrm>
          <a:off x="0" y="1887410"/>
          <a:ext cx="7581081" cy="1872942"/>
        </a:xfrm>
        <a:prstGeom prst="roundRect">
          <a:avLst/>
        </a:prstGeom>
        <a:solidFill>
          <a:schemeClr val="accent2">
            <a:hueOff val="-419062"/>
            <a:satOff val="-4829"/>
            <a:lumOff val="1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The dataset contains records from October 20, 2016 to December 31, 2017. It includes details for sales opportunities with information such as the product, account, sales team, and whether the sale was won or lost. However, it does not include sales data for January or February 2017, which affects the results for the 2017 annual and Quarter 1 analyses in this report.</a:t>
          </a:r>
        </a:p>
      </dsp:txBody>
      <dsp:txXfrm>
        <a:off x="91429" y="1978839"/>
        <a:ext cx="7398223" cy="1690084"/>
      </dsp:txXfrm>
    </dsp:sp>
    <dsp:sp modelId="{2B5FACE8-19BB-44E7-98B4-DBEC1781C42C}">
      <dsp:nvSpPr>
        <dsp:cNvPr id="0" name=""/>
        <dsp:cNvSpPr/>
      </dsp:nvSpPr>
      <dsp:spPr>
        <a:xfrm>
          <a:off x="0" y="3774218"/>
          <a:ext cx="7581081" cy="1872942"/>
        </a:xfrm>
        <a:prstGeom prst="roundRect">
          <a:avLst/>
        </a:prstGeom>
        <a:solidFill>
          <a:schemeClr val="accent2">
            <a:hueOff val="-838123"/>
            <a:satOff val="-9658"/>
            <a:lumOff val="21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 created an interactive Power BI Sales Report to empower sales managers to track their team’s quarterly performance. This report focuses on </a:t>
          </a:r>
          <a:r>
            <a:rPr lang="en-US" sz="2000" kern="1200" dirty="0" err="1">
              <a:latin typeface="Times New Roman" panose="02020603050405020304" pitchFamily="18" charset="0"/>
              <a:cs typeface="Times New Roman" panose="02020603050405020304" pitchFamily="18" charset="0"/>
            </a:rPr>
            <a:t>MavenTech’s</a:t>
          </a:r>
          <a:r>
            <a:rPr lang="en-US" sz="2000" kern="1200" dirty="0">
              <a:latin typeface="Times New Roman" panose="02020603050405020304" pitchFamily="18" charset="0"/>
              <a:cs typeface="Times New Roman" panose="02020603050405020304" pitchFamily="18" charset="0"/>
            </a:rPr>
            <a:t> sales in Quarter 4 of 2017.</a:t>
          </a:r>
        </a:p>
      </dsp:txBody>
      <dsp:txXfrm>
        <a:off x="91429" y="3865647"/>
        <a:ext cx="7398223" cy="16900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D1889-D77F-44E9-BB8B-85AA011662E9}">
      <dsp:nvSpPr>
        <dsp:cNvPr id="0" name=""/>
        <dsp:cNvSpPr/>
      </dsp:nvSpPr>
      <dsp:spPr>
        <a:xfrm>
          <a:off x="0" y="561"/>
          <a:ext cx="10506821" cy="1123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Meet or exceed Key Performance Indicators (KPIs),</a:t>
          </a:r>
        </a:p>
      </dsp:txBody>
      <dsp:txXfrm>
        <a:off x="54830" y="55391"/>
        <a:ext cx="10397161" cy="1013540"/>
      </dsp:txXfrm>
    </dsp:sp>
    <dsp:sp modelId="{09DB566C-C770-43F4-836F-7A497E3C308D}">
      <dsp:nvSpPr>
        <dsp:cNvPr id="0" name=""/>
        <dsp:cNvSpPr/>
      </dsp:nvSpPr>
      <dsp:spPr>
        <a:xfrm>
          <a:off x="0" y="1296561"/>
          <a:ext cx="10506821" cy="1123200"/>
        </a:xfrm>
        <a:prstGeom prst="roundRect">
          <a:avLst/>
        </a:prstGeom>
        <a:solidFill>
          <a:schemeClr val="accent2">
            <a:hueOff val="-419062"/>
            <a:satOff val="-4829"/>
            <a:lumOff val="1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Understand the current insights about their team, and</a:t>
          </a:r>
        </a:p>
      </dsp:txBody>
      <dsp:txXfrm>
        <a:off x="54830" y="1351391"/>
        <a:ext cx="10397161" cy="1013540"/>
      </dsp:txXfrm>
    </dsp:sp>
    <dsp:sp modelId="{2B5FACE8-19BB-44E7-98B4-DBEC1781C42C}">
      <dsp:nvSpPr>
        <dsp:cNvPr id="0" name=""/>
        <dsp:cNvSpPr/>
      </dsp:nvSpPr>
      <dsp:spPr>
        <a:xfrm>
          <a:off x="0" y="2592561"/>
          <a:ext cx="10506821" cy="1123200"/>
        </a:xfrm>
        <a:prstGeom prst="roundRect">
          <a:avLst/>
        </a:prstGeom>
        <a:solidFill>
          <a:schemeClr val="accent2">
            <a:hueOff val="-838123"/>
            <a:satOff val="-9658"/>
            <a:lumOff val="21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Obtain actionable information.</a:t>
          </a:r>
        </a:p>
      </dsp:txBody>
      <dsp:txXfrm>
        <a:off x="54830" y="2647391"/>
        <a:ext cx="10397161" cy="10135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DA2A2-FF54-4063-803F-D977E125E75A}">
      <dsp:nvSpPr>
        <dsp:cNvPr id="0" name=""/>
        <dsp:cNvSpPr/>
      </dsp:nvSpPr>
      <dsp:spPr>
        <a:xfrm>
          <a:off x="0" y="73591"/>
          <a:ext cx="10876308" cy="108064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How is my team (as a whole and individual team members) doing based on our Key Performance Indicators (KPIs)?</a:t>
          </a:r>
        </a:p>
      </dsp:txBody>
      <dsp:txXfrm>
        <a:off x="52753" y="126344"/>
        <a:ext cx="10770802" cy="975139"/>
      </dsp:txXfrm>
    </dsp:sp>
    <dsp:sp modelId="{3ECB6171-FCE7-4886-99B8-A96AD633BB68}">
      <dsp:nvSpPr>
        <dsp:cNvPr id="0" name=""/>
        <dsp:cNvSpPr/>
      </dsp:nvSpPr>
      <dsp:spPr>
        <a:xfrm>
          <a:off x="0" y="1226237"/>
          <a:ext cx="10876308" cy="965250"/>
        </a:xfrm>
        <a:prstGeom prst="roundRect">
          <a:avLst/>
        </a:prstGeom>
        <a:solidFill>
          <a:schemeClr val="accent2">
            <a:hueOff val="-279374"/>
            <a:satOff val="-3219"/>
            <a:lumOff val="7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Are there team members who need extra support in certain areas? </a:t>
          </a:r>
        </a:p>
      </dsp:txBody>
      <dsp:txXfrm>
        <a:off x="47120" y="1273357"/>
        <a:ext cx="10782068" cy="871010"/>
      </dsp:txXfrm>
    </dsp:sp>
    <dsp:sp modelId="{51CF21BA-B8EC-42B1-BA71-3ED410E397A9}">
      <dsp:nvSpPr>
        <dsp:cNvPr id="0" name=""/>
        <dsp:cNvSpPr/>
      </dsp:nvSpPr>
      <dsp:spPr>
        <a:xfrm>
          <a:off x="0" y="2263487"/>
          <a:ext cx="10876308" cy="924767"/>
        </a:xfrm>
        <a:prstGeom prst="roundRect">
          <a:avLst/>
        </a:prstGeom>
        <a:solidFill>
          <a:schemeClr val="accent2">
            <a:hueOff val="-558749"/>
            <a:satOff val="-6439"/>
            <a:lumOff val="14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Where should we focus our efforts to improve performance? </a:t>
          </a:r>
        </a:p>
      </dsp:txBody>
      <dsp:txXfrm>
        <a:off x="45143" y="2308630"/>
        <a:ext cx="10786022" cy="834481"/>
      </dsp:txXfrm>
    </dsp:sp>
    <dsp:sp modelId="{994117F4-6838-4A13-B5D7-C3BFB9AF2959}">
      <dsp:nvSpPr>
        <dsp:cNvPr id="0" name=""/>
        <dsp:cNvSpPr/>
      </dsp:nvSpPr>
      <dsp:spPr>
        <a:xfrm>
          <a:off x="0" y="3260254"/>
          <a:ext cx="10876308" cy="965250"/>
        </a:xfrm>
        <a:prstGeom prst="roundRect">
          <a:avLst/>
        </a:prstGeom>
        <a:solidFill>
          <a:schemeClr val="accent2">
            <a:hueOff val="-838123"/>
            <a:satOff val="-9658"/>
            <a:lumOff val="21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Is my team performing above average compared to the rest of the teams?</a:t>
          </a:r>
        </a:p>
      </dsp:txBody>
      <dsp:txXfrm>
        <a:off x="47120" y="3307374"/>
        <a:ext cx="10782068" cy="8710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12/2/2025</a:t>
            </a:fld>
            <a:endParaRPr lang="en-US" dirty="0"/>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dirty="0"/>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18:19:41.983"/>
    </inkml:context>
    <inkml:brush xml:id="br0">
      <inkml:brushProperty name="width" value="0.05" units="cm"/>
      <inkml:brushProperty name="height" value="0.05" units="cm"/>
      <inkml:brushProperty name="color" value="#AE198D"/>
      <inkml:brushProperty name="inkEffects" value="galaxy"/>
      <inkml:brushProperty name="anchorX" value="-11373.22559"/>
      <inkml:brushProperty name="anchorY" value="-3346.23022"/>
      <inkml:brushProperty name="scaleFactor" value="0.5"/>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18:20:40.424"/>
    </inkml:context>
    <inkml:brush xml:id="br0">
      <inkml:brushProperty name="width" value="0.05" units="cm"/>
      <inkml:brushProperty name="height" value="0.05" units="cm"/>
      <inkml:brushProperty name="color" value="#AE198D"/>
      <inkml:brushProperty name="inkEffects" value="galaxy"/>
      <inkml:brushProperty name="anchorX" value="-12389.22559"/>
      <inkml:brushProperty name="anchorY" value="-4362.22998"/>
      <inkml:brushProperty name="scaleFactor" value="0.5"/>
    </inkml:brush>
  </inkml:definitions>
  <inkml:trace contextRef="#ctx0" brushRef="#br0">1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18:20:42.575"/>
    </inkml:context>
    <inkml:brush xml:id="br0">
      <inkml:brushProperty name="width" value="0.05" units="cm"/>
      <inkml:brushProperty name="height" value="0.05" units="cm"/>
      <inkml:brushProperty name="color" value="#AE198D"/>
      <inkml:brushProperty name="inkEffects" value="galaxy"/>
      <inkml:brushProperty name="anchorX" value="-13405.22656"/>
      <inkml:brushProperty name="anchorY" value="-5378.22998"/>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18:20:57.383"/>
    </inkml:context>
    <inkml:brush xml:id="br0">
      <inkml:brushProperty name="width" value="0.05" units="cm"/>
      <inkml:brushProperty name="height" value="0.05" units="cm"/>
      <inkml:brushProperty name="color" value="#AE198D"/>
      <inkml:brushProperty name="inkEffects" value="galaxy"/>
      <inkml:brushProperty name="anchorX" value="-14421.22656"/>
      <inkml:brushProperty name="anchorY" value="-6394.22998"/>
      <inkml:brushProperty name="scaleFactor" value="0.5"/>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1745-EFBC-619C-179D-0BD607998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F0A8D-588D-2156-A6AC-F9CBCF6E3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0808D-7DA7-F9E8-3B11-4D2DC6EA44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CD8D4-A4F3-705D-B6AA-77CC8B31DEFD}"/>
              </a:ext>
            </a:extLst>
          </p:cNvPr>
          <p:cNvSpPr>
            <a:spLocks noGrp="1"/>
          </p:cNvSpPr>
          <p:nvPr>
            <p:ph type="sldNum" sz="quarter" idx="5"/>
          </p:nvPr>
        </p:nvSpPr>
        <p:spPr/>
        <p:txBody>
          <a:bodyPr/>
          <a:lstStyle/>
          <a:p>
            <a:fld id="{32BF9438-3EEF-4192-9815-F6F44770AEF7}" type="slidenum">
              <a:rPr lang="en-US" smtClean="0"/>
              <a:t>1</a:t>
            </a:fld>
            <a:endParaRPr lang="en-US" dirty="0"/>
          </a:p>
        </p:txBody>
      </p:sp>
    </p:spTree>
    <p:extLst>
      <p:ext uri="{BB962C8B-B14F-4D97-AF65-F5344CB8AC3E}">
        <p14:creationId xmlns:p14="http://schemas.microsoft.com/office/powerpoint/2010/main" val="2393363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2</a:t>
            </a:fld>
            <a:endParaRPr lang="en-US" dirty="0"/>
          </a:p>
        </p:txBody>
      </p:sp>
    </p:spTree>
    <p:extLst>
      <p:ext uri="{BB962C8B-B14F-4D97-AF65-F5344CB8AC3E}">
        <p14:creationId xmlns:p14="http://schemas.microsoft.com/office/powerpoint/2010/main" val="124463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3C0B4-E7F9-7F60-C3B1-AA8AF1DF3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7D2E2-E381-7480-2E17-44C343669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B2881-1D76-F595-5FAD-4F9579996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13FBC6-E0B9-9433-0235-B2EC3CEAD692}"/>
              </a:ext>
            </a:extLst>
          </p:cNvPr>
          <p:cNvSpPr>
            <a:spLocks noGrp="1"/>
          </p:cNvSpPr>
          <p:nvPr>
            <p:ph type="sldNum" sz="quarter" idx="5"/>
          </p:nvPr>
        </p:nvSpPr>
        <p:spPr/>
        <p:txBody>
          <a:bodyPr/>
          <a:lstStyle/>
          <a:p>
            <a:fld id="{32BF9438-3EEF-4192-9815-F6F44770AEF7}" type="slidenum">
              <a:rPr lang="en-US" smtClean="0"/>
              <a:t>3</a:t>
            </a:fld>
            <a:endParaRPr lang="en-US" dirty="0"/>
          </a:p>
        </p:txBody>
      </p:sp>
    </p:spTree>
    <p:extLst>
      <p:ext uri="{BB962C8B-B14F-4D97-AF65-F5344CB8AC3E}">
        <p14:creationId xmlns:p14="http://schemas.microsoft.com/office/powerpoint/2010/main" val="418580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98B32-3BE8-B4B5-BF44-880CBD637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B1D1-E5F0-B1A0-CB96-CC5BD71D2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42CC2-2823-C432-0D34-558E20CE8A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1FF6C-6CDE-C4B0-33B3-CAF54F18FB3F}"/>
              </a:ext>
            </a:extLst>
          </p:cNvPr>
          <p:cNvSpPr>
            <a:spLocks noGrp="1"/>
          </p:cNvSpPr>
          <p:nvPr>
            <p:ph type="sldNum" sz="quarter" idx="5"/>
          </p:nvPr>
        </p:nvSpPr>
        <p:spPr/>
        <p:txBody>
          <a:bodyPr/>
          <a:lstStyle/>
          <a:p>
            <a:fld id="{32BF9438-3EEF-4192-9815-F6F44770AEF7}" type="slidenum">
              <a:rPr lang="en-US" smtClean="0"/>
              <a:t>4</a:t>
            </a:fld>
            <a:endParaRPr lang="en-US" dirty="0"/>
          </a:p>
        </p:txBody>
      </p:sp>
    </p:spTree>
    <p:extLst>
      <p:ext uri="{BB962C8B-B14F-4D97-AF65-F5344CB8AC3E}">
        <p14:creationId xmlns:p14="http://schemas.microsoft.com/office/powerpoint/2010/main" val="3856390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6</a:t>
            </a:fld>
            <a:endParaRPr lang="en-US" dirty="0"/>
          </a:p>
        </p:txBody>
      </p:sp>
    </p:spTree>
    <p:extLst>
      <p:ext uri="{BB962C8B-B14F-4D97-AF65-F5344CB8AC3E}">
        <p14:creationId xmlns:p14="http://schemas.microsoft.com/office/powerpoint/2010/main" val="328446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361101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1">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040DA2-B75D-1B49-51F9-967501F7F67B}"/>
              </a:ext>
            </a:extLst>
          </p:cNvPr>
          <p:cNvSpPr>
            <a:spLocks noGrp="1"/>
          </p:cNvSpPr>
          <p:nvPr>
            <p:ph type="title" hasCustomPrompt="1"/>
          </p:nvPr>
        </p:nvSpPr>
        <p:spPr>
          <a:xfrm>
            <a:off x="994876" y="887638"/>
            <a:ext cx="10202248" cy="5094496"/>
          </a:xfrm>
        </p:spPr>
        <p:txBody>
          <a:bodyPr/>
          <a:lstStyle>
            <a:lvl1pPr algn="ctr">
              <a:defRPr sz="4800">
                <a:solidFill>
                  <a:schemeClr val="bg1"/>
                </a:solidFill>
              </a:defRPr>
            </a:lvl1pPr>
          </a:lstStyle>
          <a:p>
            <a:r>
              <a:rPr lang="en-US" dirty="0"/>
              <a:t>Click to add title</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
        <p:nvSpPr>
          <p:cNvPr id="2" name="Rectangle 1">
            <a:extLst>
              <a:ext uri="{FF2B5EF4-FFF2-40B4-BE49-F238E27FC236}">
                <a16:creationId xmlns:a16="http://schemas.microsoft.com/office/drawing/2014/main" id="{8E93BDAB-CB06-403B-00FD-9D1C2812A298}"/>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6FB1FDB-9C8A-890A-5051-8D49E105FD49}"/>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21">
            <a:extLst>
              <a:ext uri="{FF2B5EF4-FFF2-40B4-BE49-F238E27FC236}">
                <a16:creationId xmlns:a16="http://schemas.microsoft.com/office/drawing/2014/main" id="{46056E81-9CB5-42E9-6689-B711F575C8F2}"/>
              </a:ext>
              <a:ext uri="{C183D7F6-B498-43B3-948B-1728B52AA6E4}">
                <adec:decorative xmlns:adec="http://schemas.microsoft.com/office/drawing/2017/decorative" val="1"/>
              </a:ext>
            </a:extLst>
          </p:cNvPr>
          <p:cNvSpPr/>
          <p:nvPr userDrawn="1"/>
        </p:nvSpPr>
        <p:spPr>
          <a:xfrm flipV="1">
            <a:off x="8981493" y="0"/>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22">
            <a:extLst>
              <a:ext uri="{FF2B5EF4-FFF2-40B4-BE49-F238E27FC236}">
                <a16:creationId xmlns:a16="http://schemas.microsoft.com/office/drawing/2014/main" id="{3D075254-6FC4-6738-BBBE-1BACB99E424A}"/>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56202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About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BA2562-20F9-9DC8-81EB-6ED26B24D7E3}"/>
              </a:ext>
              <a:ext uri="{C183D7F6-B498-43B3-948B-1728B52AA6E4}">
                <adec:decorative xmlns:adec="http://schemas.microsoft.com/office/drawing/2017/decorative" val="1"/>
              </a:ext>
            </a:extLst>
          </p:cNvPr>
          <p:cNvSpPr/>
          <p:nvPr userDrawn="1"/>
        </p:nvSpPr>
        <p:spPr>
          <a:xfrm>
            <a:off x="1" y="5983099"/>
            <a:ext cx="12192000" cy="873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25">
            <a:extLst>
              <a:ext uri="{FF2B5EF4-FFF2-40B4-BE49-F238E27FC236}">
                <a16:creationId xmlns:a16="http://schemas.microsoft.com/office/drawing/2014/main" id="{369E878B-C75C-98DC-B694-2C40507C4945}"/>
              </a:ext>
              <a:ext uri="{C183D7F6-B498-43B3-948B-1728B52AA6E4}">
                <adec:decorative xmlns:adec="http://schemas.microsoft.com/office/drawing/2017/decorative" val="1"/>
              </a:ext>
            </a:extLst>
          </p:cNvPr>
          <p:cNvSpPr/>
          <p:nvPr userDrawn="1"/>
        </p:nvSpPr>
        <p:spPr>
          <a:xfrm>
            <a:off x="8991644" y="3657675"/>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27">
            <a:extLst>
              <a:ext uri="{FF2B5EF4-FFF2-40B4-BE49-F238E27FC236}">
                <a16:creationId xmlns:a16="http://schemas.microsoft.com/office/drawing/2014/main" id="{DC03A063-67E0-718E-206C-6C807C20026A}"/>
              </a:ext>
              <a:ext uri="{C183D7F6-B498-43B3-948B-1728B52AA6E4}">
                <adec:decorative xmlns:adec="http://schemas.microsoft.com/office/drawing/2017/decorative" val="1"/>
              </a:ext>
            </a:extLst>
          </p:cNvPr>
          <p:cNvSpPr>
            <a:spLocks noChangeAspect="1"/>
          </p:cNvSpPr>
          <p:nvPr userDrawn="1"/>
        </p:nvSpPr>
        <p:spPr>
          <a:xfrm flipH="1" flipV="1">
            <a:off x="0" y="-5"/>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30">
            <a:extLst>
              <a:ext uri="{FF2B5EF4-FFF2-40B4-BE49-F238E27FC236}">
                <a16:creationId xmlns:a16="http://schemas.microsoft.com/office/drawing/2014/main" id="{6D86FEEF-2721-A616-B636-7C6F8B1B5D56}"/>
              </a:ext>
              <a:ext uri="{C183D7F6-B498-43B3-948B-1728B52AA6E4}">
                <adec:decorative xmlns:adec="http://schemas.microsoft.com/office/drawing/2017/decorative" val="1"/>
              </a:ext>
            </a:extLst>
          </p:cNvPr>
          <p:cNvSpPr>
            <a:spLocks noChangeAspect="1"/>
          </p:cNvSpPr>
          <p:nvPr userDrawn="1"/>
        </p:nvSpPr>
        <p:spPr>
          <a:xfrm rot="16200000" flipH="1" flipV="1">
            <a:off x="-433923" y="5546250"/>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Title 17">
            <a:extLst>
              <a:ext uri="{FF2B5EF4-FFF2-40B4-BE49-F238E27FC236}">
                <a16:creationId xmlns:a16="http://schemas.microsoft.com/office/drawing/2014/main" id="{4AC20A76-77DC-62F7-C0E5-66C03853B31E}"/>
              </a:ext>
            </a:extLst>
          </p:cNvPr>
          <p:cNvSpPr>
            <a:spLocks noGrp="1"/>
          </p:cNvSpPr>
          <p:nvPr>
            <p:ph type="title" hasCustomPrompt="1"/>
          </p:nvPr>
        </p:nvSpPr>
        <p:spPr>
          <a:xfrm>
            <a:off x="1371599" y="1478396"/>
            <a:ext cx="3710355" cy="3445297"/>
          </a:xfrm>
        </p:spPr>
        <p:txBody>
          <a:bodyPr>
            <a:normAutofit/>
          </a:bodyPr>
          <a:lstStyle>
            <a:lvl1pPr>
              <a:defRPr sz="3600">
                <a:solidFill>
                  <a:schemeClr val="accent2">
                    <a:lumMod val="75000"/>
                  </a:schemeClr>
                </a:solidFill>
              </a:defRPr>
            </a:lvl1pPr>
          </a:lstStyle>
          <a:p>
            <a:r>
              <a:rPr lang="en-US" dirty="0"/>
              <a:t>Click to add title</a:t>
            </a:r>
          </a:p>
        </p:txBody>
      </p:sp>
      <p:sp>
        <p:nvSpPr>
          <p:cNvPr id="20" name="Content Placeholder 19">
            <a:extLst>
              <a:ext uri="{FF2B5EF4-FFF2-40B4-BE49-F238E27FC236}">
                <a16:creationId xmlns:a16="http://schemas.microsoft.com/office/drawing/2014/main" id="{CF99A149-DEF4-9E0F-D0DE-E859DB6CA539}"/>
              </a:ext>
            </a:extLst>
          </p:cNvPr>
          <p:cNvSpPr>
            <a:spLocks noGrp="1"/>
          </p:cNvSpPr>
          <p:nvPr>
            <p:ph sz="quarter" idx="10" hasCustomPrompt="1"/>
          </p:nvPr>
        </p:nvSpPr>
        <p:spPr>
          <a:xfrm>
            <a:off x="5360465" y="1477963"/>
            <a:ext cx="5536135" cy="3446462"/>
          </a:xfrm>
        </p:spPr>
        <p:txBody>
          <a:bodyPr anchor="ctr">
            <a:normAutofit/>
          </a:bodyPr>
          <a:lstStyle>
            <a:lvl1pPr marL="0" indent="0">
              <a:buNone/>
              <a:defRPr sz="180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bg1"/>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46245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losing 1">
    <p:bg>
      <p:bgPr>
        <a:solidFill>
          <a:schemeClr val="accent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181407F-D7F6-56CB-135C-01868BC1917D}"/>
              </a:ext>
            </a:extLst>
          </p:cNvPr>
          <p:cNvSpPr>
            <a:spLocks noGrp="1"/>
          </p:cNvSpPr>
          <p:nvPr>
            <p:ph type="title" hasCustomPrompt="1"/>
          </p:nvPr>
        </p:nvSpPr>
        <p:spPr>
          <a:xfrm>
            <a:off x="1371597" y="1088211"/>
            <a:ext cx="4602483" cy="4896019"/>
          </a:xfrm>
        </p:spPr>
        <p:txBody>
          <a:bodyPr>
            <a:normAutofit/>
          </a:bodyPr>
          <a:lstStyle>
            <a:lvl1pPr>
              <a:defRPr sz="4800">
                <a:solidFill>
                  <a:schemeClr val="bg2"/>
                </a:solidFill>
              </a:defRPr>
            </a:lvl1pPr>
          </a:lstStyle>
          <a:p>
            <a:r>
              <a:rPr lang="en-US" dirty="0"/>
              <a:t>Click to add title</a:t>
            </a:r>
          </a:p>
        </p:txBody>
      </p:sp>
      <p:sp>
        <p:nvSpPr>
          <p:cNvPr id="2" name="Rectangle 1">
            <a:extLst>
              <a:ext uri="{FF2B5EF4-FFF2-40B4-BE49-F238E27FC236}">
                <a16:creationId xmlns:a16="http://schemas.microsoft.com/office/drawing/2014/main" id="{7E517585-E867-BB06-B195-272DA0FD4799}"/>
              </a:ext>
              <a:ext uri="{C183D7F6-B498-43B3-948B-1728B52AA6E4}">
                <adec:decorative xmlns:adec="http://schemas.microsoft.com/office/drawing/2017/decorative" val="1"/>
              </a:ext>
            </a:extLst>
          </p:cNvPr>
          <p:cNvSpPr/>
          <p:nvPr userDrawn="1"/>
        </p:nvSpPr>
        <p:spPr>
          <a:xfrm>
            <a:off x="1" y="-8"/>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92D9EBD-88FB-A2C3-7EC2-46DD7B53267E}"/>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22">
            <a:extLst>
              <a:ext uri="{FF2B5EF4-FFF2-40B4-BE49-F238E27FC236}">
                <a16:creationId xmlns:a16="http://schemas.microsoft.com/office/drawing/2014/main" id="{CB417425-9078-B6E8-97F7-BAA1536BA069}"/>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4">
            <a:extLst>
              <a:ext uri="{FF2B5EF4-FFF2-40B4-BE49-F238E27FC236}">
                <a16:creationId xmlns:a16="http://schemas.microsoft.com/office/drawing/2014/main" id="{D7F56B38-71B8-A745-8D9C-BBEA278F3FC5}"/>
              </a:ext>
              <a:ext uri="{C183D7F6-B498-43B3-948B-1728B52AA6E4}">
                <adec:decorative xmlns:adec="http://schemas.microsoft.com/office/drawing/2017/decorative" val="1"/>
              </a:ext>
            </a:extLst>
          </p:cNvPr>
          <p:cNvSpPr>
            <a:spLocks noChangeAspect="1"/>
          </p:cNvSpPr>
          <p:nvPr userDrawn="1"/>
        </p:nvSpPr>
        <p:spPr>
          <a:xfrm>
            <a:off x="9905999" y="4572027"/>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Content Placeholder 10">
            <a:extLst>
              <a:ext uri="{FF2B5EF4-FFF2-40B4-BE49-F238E27FC236}">
                <a16:creationId xmlns:a16="http://schemas.microsoft.com/office/drawing/2014/main" id="{45E5C644-63C0-D8A4-7EF1-1681AFB1F4D9}"/>
              </a:ext>
            </a:extLst>
          </p:cNvPr>
          <p:cNvSpPr>
            <a:spLocks noGrp="1"/>
          </p:cNvSpPr>
          <p:nvPr>
            <p:ph sz="quarter" idx="10" hasCustomPrompt="1"/>
          </p:nvPr>
        </p:nvSpPr>
        <p:spPr>
          <a:xfrm>
            <a:off x="6324599" y="1088210"/>
            <a:ext cx="4373564" cy="4894894"/>
          </a:xfrm>
        </p:spPr>
        <p:txBody>
          <a:bodyPr anchor="ctr">
            <a:normAutofit/>
          </a:bodyPr>
          <a:lstStyle>
            <a:lvl1pPr marL="0" indent="0">
              <a:spcBef>
                <a:spcPts val="0"/>
              </a:spcBef>
              <a:spcAft>
                <a:spcPts val="600"/>
              </a:spcAft>
              <a:buNone/>
              <a:defRPr sz="1800" b="1">
                <a:solidFill>
                  <a:schemeClr val="bg2"/>
                </a:solidFill>
              </a:defRPr>
            </a:lvl1pPr>
            <a:lvl2pPr marL="457200" indent="0">
              <a:spcBef>
                <a:spcPts val="0"/>
              </a:spcBef>
              <a:spcAft>
                <a:spcPts val="600"/>
              </a:spcAft>
              <a:buNone/>
              <a:defRPr sz="1600" b="1">
                <a:solidFill>
                  <a:schemeClr val="bg2"/>
                </a:solidFill>
              </a:defRPr>
            </a:lvl2pPr>
            <a:lvl3pPr marL="914400" indent="0">
              <a:spcBef>
                <a:spcPts val="0"/>
              </a:spcBef>
              <a:spcAft>
                <a:spcPts val="600"/>
              </a:spcAft>
              <a:buNone/>
              <a:defRPr sz="1400" b="1">
                <a:solidFill>
                  <a:schemeClr val="bg2"/>
                </a:solidFill>
              </a:defRPr>
            </a:lvl3pPr>
            <a:lvl4pPr marL="1371600" indent="0">
              <a:spcBef>
                <a:spcPts val="0"/>
              </a:spcBef>
              <a:spcAft>
                <a:spcPts val="600"/>
              </a:spcAft>
              <a:buNone/>
              <a:defRPr sz="1200" b="1">
                <a:solidFill>
                  <a:schemeClr val="bg2"/>
                </a:solidFill>
              </a:defRPr>
            </a:lvl4pPr>
            <a:lvl5pPr marL="1828800" indent="0">
              <a:spcBef>
                <a:spcPts val="0"/>
              </a:spcBef>
              <a:spcAft>
                <a:spcPts val="600"/>
              </a:spcAft>
              <a:buNone/>
              <a:defRPr sz="1200" b="1">
                <a:solidFill>
                  <a:schemeClr val="bg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1982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36" r:id="rId14"/>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5.pn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3.xml"/><Relationship Id="rId11" Type="http://schemas.openxmlformats.org/officeDocument/2006/relationships/image" Target="../media/image4.png"/><Relationship Id="rId5" Type="http://schemas.openxmlformats.org/officeDocument/2006/relationships/diagramQuickStyle" Target="../diagrams/quickStyle3.xml"/><Relationship Id="rId10" Type="http://schemas.openxmlformats.org/officeDocument/2006/relationships/customXml" Target="../ink/ink3.xml"/><Relationship Id="rId4" Type="http://schemas.openxmlformats.org/officeDocument/2006/relationships/diagramLayout" Target="../diagrams/layout3.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E25068-623F-AFC6-A891-4B921B46EA3B}"/>
            </a:ext>
          </a:extLst>
        </p:cNvPr>
        <p:cNvGrpSpPr/>
        <p:nvPr/>
      </p:nvGrpSpPr>
      <p:grpSpPr>
        <a:xfrm>
          <a:off x="0" y="0"/>
          <a:ext cx="0" cy="0"/>
          <a:chOff x="0" y="0"/>
          <a:chExt cx="0" cy="0"/>
        </a:xfrm>
      </p:grpSpPr>
      <p:sp>
        <p:nvSpPr>
          <p:cNvPr id="27" name="Freeform: Shape 26">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8" name="Rectangle 27">
            <a:extLst>
              <a:ext uri="{FF2B5EF4-FFF2-40B4-BE49-F238E27FC236}">
                <a16:creationId xmlns:a16="http://schemas.microsoft.com/office/drawing/2014/main" id="{9BB8F2C0-5085-4286-BF3B-489C592A9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ngled shot of pen on a graph">
            <a:extLst>
              <a:ext uri="{FF2B5EF4-FFF2-40B4-BE49-F238E27FC236}">
                <a16:creationId xmlns:a16="http://schemas.microsoft.com/office/drawing/2014/main" id="{EFA5F49E-7C14-0F8C-E3AA-74B7C3A1043C}"/>
              </a:ext>
            </a:extLst>
          </p:cNvPr>
          <p:cNvPicPr>
            <a:picLocks noChangeAspect="1"/>
          </p:cNvPicPr>
          <p:nvPr/>
        </p:nvPicPr>
        <p:blipFill>
          <a:blip r:embed="rId3"/>
          <a:srcRect r="30830" b="-1"/>
          <a:stretch>
            <a:fillRect/>
          </a:stretch>
        </p:blipFill>
        <p:spPr>
          <a:xfrm>
            <a:off x="20" y="10"/>
            <a:ext cx="7113748" cy="6864903"/>
          </a:xfrm>
          <a:prstGeom prst="rect">
            <a:avLst/>
          </a:prstGeom>
        </p:spPr>
      </p:pic>
      <p:sp>
        <p:nvSpPr>
          <p:cNvPr id="29" name="Freeform: Shape 28">
            <a:extLst>
              <a:ext uri="{FF2B5EF4-FFF2-40B4-BE49-F238E27FC236}">
                <a16:creationId xmlns:a16="http://schemas.microsoft.com/office/drawing/2014/main" id="{E705AD56-8B1B-4111-AE73-A1DEC7073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5103" y="-5976"/>
            <a:ext cx="8556895" cy="6872531"/>
          </a:xfrm>
          <a:custGeom>
            <a:avLst/>
            <a:gdLst>
              <a:gd name="connsiteX0" fmla="*/ 5317418 w 8556895"/>
              <a:gd name="connsiteY0" fmla="*/ 0 h 6865265"/>
              <a:gd name="connsiteX1" fmla="*/ 8556895 w 8556895"/>
              <a:gd name="connsiteY1" fmla="*/ 0 h 6865265"/>
              <a:gd name="connsiteX2" fmla="*/ 8556895 w 8556895"/>
              <a:gd name="connsiteY2" fmla="*/ 6858000 h 6865265"/>
              <a:gd name="connsiteX3" fmla="*/ 5869355 w 8556895"/>
              <a:gd name="connsiteY3" fmla="*/ 6858000 h 6865265"/>
              <a:gd name="connsiteX4" fmla="*/ 5869355 w 8556895"/>
              <a:gd name="connsiteY4" fmla="*/ 6865265 h 6865265"/>
              <a:gd name="connsiteX5" fmla="*/ 0 w 8556895"/>
              <a:gd name="connsiteY5" fmla="*/ 6865265 h 6865265"/>
              <a:gd name="connsiteX6" fmla="*/ 3430955 w 8556895"/>
              <a:gd name="connsiteY6" fmla="*/ 3434310 h 6865265"/>
              <a:gd name="connsiteX7" fmla="*/ 176556 w 8556895"/>
              <a:gd name="connsiteY7" fmla="*/ 7819 h 6865265"/>
              <a:gd name="connsiteX8" fmla="*/ 154644 w 8556895"/>
              <a:gd name="connsiteY8" fmla="*/ 7265 h 6865265"/>
              <a:gd name="connsiteX9" fmla="*/ 5317418 w 8556895"/>
              <a:gd name="connsiteY9" fmla="*/ 7265 h 6865265"/>
              <a:gd name="connsiteX0" fmla="*/ 5317418 w 8556895"/>
              <a:gd name="connsiteY0" fmla="*/ 7265 h 6865265"/>
              <a:gd name="connsiteX1" fmla="*/ 8556895 w 8556895"/>
              <a:gd name="connsiteY1" fmla="*/ 0 h 6865265"/>
              <a:gd name="connsiteX2" fmla="*/ 8556895 w 8556895"/>
              <a:gd name="connsiteY2" fmla="*/ 6858000 h 6865265"/>
              <a:gd name="connsiteX3" fmla="*/ 5869355 w 8556895"/>
              <a:gd name="connsiteY3" fmla="*/ 6858000 h 6865265"/>
              <a:gd name="connsiteX4" fmla="*/ 5869355 w 8556895"/>
              <a:gd name="connsiteY4" fmla="*/ 6865265 h 6865265"/>
              <a:gd name="connsiteX5" fmla="*/ 0 w 8556895"/>
              <a:gd name="connsiteY5" fmla="*/ 6865265 h 6865265"/>
              <a:gd name="connsiteX6" fmla="*/ 3430955 w 8556895"/>
              <a:gd name="connsiteY6" fmla="*/ 3434310 h 6865265"/>
              <a:gd name="connsiteX7" fmla="*/ 176556 w 8556895"/>
              <a:gd name="connsiteY7" fmla="*/ 7819 h 6865265"/>
              <a:gd name="connsiteX8" fmla="*/ 154644 w 8556895"/>
              <a:gd name="connsiteY8" fmla="*/ 7265 h 6865265"/>
              <a:gd name="connsiteX9" fmla="*/ 5317418 w 8556895"/>
              <a:gd name="connsiteY9" fmla="*/ 7265 h 6865265"/>
              <a:gd name="connsiteX0" fmla="*/ 5317418 w 8556895"/>
              <a:gd name="connsiteY0" fmla="*/ 7265 h 6865265"/>
              <a:gd name="connsiteX1" fmla="*/ 8556895 w 8556895"/>
              <a:gd name="connsiteY1" fmla="*/ 0 h 6865265"/>
              <a:gd name="connsiteX2" fmla="*/ 8556895 w 8556895"/>
              <a:gd name="connsiteY2" fmla="*/ 6858000 h 6865265"/>
              <a:gd name="connsiteX3" fmla="*/ 5869355 w 8556895"/>
              <a:gd name="connsiteY3" fmla="*/ 6858000 h 6865265"/>
              <a:gd name="connsiteX4" fmla="*/ 0 w 8556895"/>
              <a:gd name="connsiteY4" fmla="*/ 6865265 h 6865265"/>
              <a:gd name="connsiteX5" fmla="*/ 3430955 w 8556895"/>
              <a:gd name="connsiteY5" fmla="*/ 3434310 h 6865265"/>
              <a:gd name="connsiteX6" fmla="*/ 176556 w 8556895"/>
              <a:gd name="connsiteY6" fmla="*/ 7819 h 6865265"/>
              <a:gd name="connsiteX7" fmla="*/ 154644 w 8556895"/>
              <a:gd name="connsiteY7" fmla="*/ 7265 h 6865265"/>
              <a:gd name="connsiteX8" fmla="*/ 5317418 w 8556895"/>
              <a:gd name="connsiteY8" fmla="*/ 7265 h 6865265"/>
              <a:gd name="connsiteX0" fmla="*/ 5317418 w 8556895"/>
              <a:gd name="connsiteY0" fmla="*/ 7265 h 6865265"/>
              <a:gd name="connsiteX1" fmla="*/ 8556895 w 8556895"/>
              <a:gd name="connsiteY1" fmla="*/ 0 h 6865265"/>
              <a:gd name="connsiteX2" fmla="*/ 8556895 w 8556895"/>
              <a:gd name="connsiteY2" fmla="*/ 6858000 h 6865265"/>
              <a:gd name="connsiteX3" fmla="*/ 0 w 8556895"/>
              <a:gd name="connsiteY3" fmla="*/ 6865265 h 6865265"/>
              <a:gd name="connsiteX4" fmla="*/ 3430955 w 8556895"/>
              <a:gd name="connsiteY4" fmla="*/ 3434310 h 6865265"/>
              <a:gd name="connsiteX5" fmla="*/ 176556 w 8556895"/>
              <a:gd name="connsiteY5" fmla="*/ 7819 h 6865265"/>
              <a:gd name="connsiteX6" fmla="*/ 154644 w 8556895"/>
              <a:gd name="connsiteY6" fmla="*/ 7265 h 6865265"/>
              <a:gd name="connsiteX7" fmla="*/ 5317418 w 8556895"/>
              <a:gd name="connsiteY7" fmla="*/ 7265 h 6865265"/>
              <a:gd name="connsiteX0" fmla="*/ 154644 w 8556895"/>
              <a:gd name="connsiteY0" fmla="*/ 7265 h 6865265"/>
              <a:gd name="connsiteX1" fmla="*/ 8556895 w 8556895"/>
              <a:gd name="connsiteY1" fmla="*/ 0 h 6865265"/>
              <a:gd name="connsiteX2" fmla="*/ 8556895 w 8556895"/>
              <a:gd name="connsiteY2" fmla="*/ 6858000 h 6865265"/>
              <a:gd name="connsiteX3" fmla="*/ 0 w 8556895"/>
              <a:gd name="connsiteY3" fmla="*/ 6865265 h 6865265"/>
              <a:gd name="connsiteX4" fmla="*/ 3430955 w 8556895"/>
              <a:gd name="connsiteY4" fmla="*/ 3434310 h 6865265"/>
              <a:gd name="connsiteX5" fmla="*/ 176556 w 8556895"/>
              <a:gd name="connsiteY5" fmla="*/ 7819 h 6865265"/>
              <a:gd name="connsiteX6" fmla="*/ 154644 w 8556895"/>
              <a:gd name="connsiteY6" fmla="*/ 7265 h 686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56895" h="6865265">
                <a:moveTo>
                  <a:pt x="154644" y="7265"/>
                </a:moveTo>
                <a:lnTo>
                  <a:pt x="8556895" y="0"/>
                </a:lnTo>
                <a:lnTo>
                  <a:pt x="8556895" y="6858000"/>
                </a:lnTo>
                <a:lnTo>
                  <a:pt x="0" y="6865265"/>
                </a:lnTo>
                <a:cubicBezTo>
                  <a:pt x="1894864" y="6865265"/>
                  <a:pt x="3430955" y="5329174"/>
                  <a:pt x="3430955" y="3434310"/>
                </a:cubicBezTo>
                <a:cubicBezTo>
                  <a:pt x="3430955" y="1598661"/>
                  <a:pt x="1989370" y="99711"/>
                  <a:pt x="176556" y="7819"/>
                </a:cubicBezTo>
                <a:lnTo>
                  <a:pt x="154644" y="726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0439D4E6-5229-413A-A17B-5910539E8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600" y="4957767"/>
            <a:ext cx="9880399" cy="1907146"/>
          </a:xfrm>
          <a:custGeom>
            <a:avLst/>
            <a:gdLst>
              <a:gd name="connsiteX0" fmla="*/ 3703306 w 9880399"/>
              <a:gd name="connsiteY0" fmla="*/ 0 h 1907146"/>
              <a:gd name="connsiteX1" fmla="*/ 9880399 w 9880399"/>
              <a:gd name="connsiteY1" fmla="*/ 0 h 1907146"/>
              <a:gd name="connsiteX2" fmla="*/ 9880399 w 9880399"/>
              <a:gd name="connsiteY2" fmla="*/ 1907146 h 1907146"/>
              <a:gd name="connsiteX3" fmla="*/ 0 w 9880399"/>
              <a:gd name="connsiteY3" fmla="*/ 1907146 h 1907146"/>
              <a:gd name="connsiteX4" fmla="*/ 38110 w 9880399"/>
              <a:gd name="connsiteY4" fmla="*/ 1752976 h 1907146"/>
              <a:gd name="connsiteX5" fmla="*/ 2390342 w 9880399"/>
              <a:gd name="connsiteY5" fmla="*/ 1 h 1907146"/>
              <a:gd name="connsiteX6" fmla="*/ 2500931 w 9880399"/>
              <a:gd name="connsiteY6" fmla="*/ 2797 h 1907146"/>
              <a:gd name="connsiteX7" fmla="*/ 3703306 w 9880399"/>
              <a:gd name="connsiteY7" fmla="*/ 2797 h 190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80399" h="1907146">
                <a:moveTo>
                  <a:pt x="3703306" y="0"/>
                </a:moveTo>
                <a:lnTo>
                  <a:pt x="9880399" y="0"/>
                </a:lnTo>
                <a:lnTo>
                  <a:pt x="9880399" y="1907146"/>
                </a:lnTo>
                <a:lnTo>
                  <a:pt x="0" y="1907146"/>
                </a:lnTo>
                <a:lnTo>
                  <a:pt x="38110" y="1752976"/>
                </a:lnTo>
                <a:cubicBezTo>
                  <a:pt x="339672" y="739254"/>
                  <a:pt x="1278677" y="1"/>
                  <a:pt x="2390342" y="1"/>
                </a:cubicBezTo>
                <a:lnTo>
                  <a:pt x="2500931" y="2797"/>
                </a:lnTo>
                <a:lnTo>
                  <a:pt x="3703306" y="2797"/>
                </a:lnTo>
                <a:close/>
              </a:path>
            </a:pathLst>
          </a:custGeom>
          <a:solidFill>
            <a:schemeClr val="accent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E138170-6131-57FA-0A38-F95C15085114}"/>
              </a:ext>
            </a:extLst>
          </p:cNvPr>
          <p:cNvSpPr>
            <a:spLocks noGrp="1"/>
          </p:cNvSpPr>
          <p:nvPr>
            <p:ph type="title"/>
          </p:nvPr>
        </p:nvSpPr>
        <p:spPr>
          <a:xfrm>
            <a:off x="3858937" y="5041783"/>
            <a:ext cx="8254766" cy="1723928"/>
          </a:xfrm>
        </p:spPr>
        <p:txBody>
          <a:bodyPr vert="horz" lIns="91440" tIns="45720" rIns="91440" bIns="45720" rtlCol="0" anchor="b">
            <a:noAutofit/>
          </a:bodyPr>
          <a:lstStyle/>
          <a:p>
            <a:pPr algn="l">
              <a:lnSpc>
                <a:spcPct val="100000"/>
              </a:lnSpc>
            </a:pPr>
            <a:r>
              <a:rPr lang="en-US" sz="5400" dirty="0">
                <a:solidFill>
                  <a:srgbClr val="FFFFFF"/>
                </a:solidFill>
                <a:latin typeface="Times New Roman" panose="02020603050405020304" pitchFamily="18" charset="0"/>
                <a:cs typeface="Times New Roman" panose="02020603050405020304" pitchFamily="18" charset="0"/>
              </a:rPr>
              <a:t>Sales Report:</a:t>
            </a:r>
            <a:br>
              <a:rPr lang="en-US" sz="5400" dirty="0">
                <a:solidFill>
                  <a:srgbClr val="FFFFFF"/>
                </a:solidFill>
                <a:latin typeface="Times New Roman" panose="02020603050405020304" pitchFamily="18" charset="0"/>
                <a:cs typeface="Times New Roman" panose="02020603050405020304" pitchFamily="18" charset="0"/>
              </a:rPr>
            </a:br>
            <a:r>
              <a:rPr lang="en-US" sz="5400" dirty="0">
                <a:solidFill>
                  <a:srgbClr val="FFFFFF"/>
                </a:solidFill>
                <a:latin typeface="Times New Roman" panose="02020603050405020304" pitchFamily="18" charset="0"/>
                <a:cs typeface="Times New Roman" panose="02020603050405020304" pitchFamily="18" charset="0"/>
              </a:rPr>
              <a:t>CRM Insights for Managers</a:t>
            </a:r>
          </a:p>
        </p:txBody>
      </p:sp>
    </p:spTree>
    <p:extLst>
      <p:ext uri="{BB962C8B-B14F-4D97-AF65-F5344CB8AC3E}">
        <p14:creationId xmlns:p14="http://schemas.microsoft.com/office/powerpoint/2010/main" val="228641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3" name="Rectangle 22">
            <a:extLst>
              <a:ext uri="{FF2B5EF4-FFF2-40B4-BE49-F238E27FC236}">
                <a16:creationId xmlns:a16="http://schemas.microsoft.com/office/drawing/2014/main" id="{9C2B84E4-3649-482C-BD35-51CFD74FB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CE25BC1-2985-4214-A507-0A333899D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67201" cy="6858000"/>
          </a:xfrm>
          <a:custGeom>
            <a:avLst/>
            <a:gdLst>
              <a:gd name="connsiteX0" fmla="*/ 0 w 4267201"/>
              <a:gd name="connsiteY0" fmla="*/ 0 h 6858000"/>
              <a:gd name="connsiteX1" fmla="*/ 4267201 w 4267201"/>
              <a:gd name="connsiteY1" fmla="*/ 0 h 6858000"/>
              <a:gd name="connsiteX2" fmla="*/ 4267201 w 4267201"/>
              <a:gd name="connsiteY2" fmla="*/ 1397000 h 6858000"/>
              <a:gd name="connsiteX3" fmla="*/ 4267201 w 4267201"/>
              <a:gd name="connsiteY3" fmla="*/ 1600200 h 6858000"/>
              <a:gd name="connsiteX4" fmla="*/ 4267201 w 4267201"/>
              <a:gd name="connsiteY4" fmla="*/ 4205703 h 6858000"/>
              <a:gd name="connsiteX5" fmla="*/ 4265081 w 4267201"/>
              <a:gd name="connsiteY5" fmla="*/ 4250752 h 6858000"/>
              <a:gd name="connsiteX6" fmla="*/ 4265081 w 4267201"/>
              <a:gd name="connsiteY6" fmla="*/ 4276165 h 6858000"/>
              <a:gd name="connsiteX7" fmla="*/ 4263877 w 4267201"/>
              <a:gd name="connsiteY7" fmla="*/ 4276165 h 6858000"/>
              <a:gd name="connsiteX8" fmla="*/ 4258654 w 4267201"/>
              <a:gd name="connsiteY8" fmla="*/ 4386466 h 6858000"/>
              <a:gd name="connsiteX9" fmla="*/ 1819737 w 4267201"/>
              <a:gd name="connsiteY9" fmla="*/ 6840915 h 6858000"/>
              <a:gd name="connsiteX10" fmla="*/ 1553968 w 4267201"/>
              <a:gd name="connsiteY10" fmla="*/ 6854335 h 6858000"/>
              <a:gd name="connsiteX11" fmla="*/ 1553968 w 4267201"/>
              <a:gd name="connsiteY11" fmla="*/ 6858000 h 6858000"/>
              <a:gd name="connsiteX12" fmla="*/ 0 w 4267201"/>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67201" h="6858000">
                <a:moveTo>
                  <a:pt x="0" y="0"/>
                </a:moveTo>
                <a:lnTo>
                  <a:pt x="4267201" y="0"/>
                </a:lnTo>
                <a:lnTo>
                  <a:pt x="4267201" y="1397000"/>
                </a:lnTo>
                <a:lnTo>
                  <a:pt x="4267201" y="1600200"/>
                </a:lnTo>
                <a:lnTo>
                  <a:pt x="4267201" y="4205703"/>
                </a:lnTo>
                <a:lnTo>
                  <a:pt x="4265081" y="4250752"/>
                </a:lnTo>
                <a:lnTo>
                  <a:pt x="4265081" y="4276165"/>
                </a:lnTo>
                <a:lnTo>
                  <a:pt x="4263877" y="4276165"/>
                </a:lnTo>
                <a:lnTo>
                  <a:pt x="4258654" y="4386466"/>
                </a:lnTo>
                <a:cubicBezTo>
                  <a:pt x="4135569" y="5679631"/>
                  <a:pt x="3110552" y="6709825"/>
                  <a:pt x="1819737" y="6840915"/>
                </a:cubicBezTo>
                <a:lnTo>
                  <a:pt x="1553968" y="6854335"/>
                </a:lnTo>
                <a:lnTo>
                  <a:pt x="1553968"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45F04A5C-6715-4359-A8D6-200E88C293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08254"/>
            <a:ext cx="12192000" cy="4549747"/>
          </a:xfrm>
          <a:custGeom>
            <a:avLst/>
            <a:gdLst>
              <a:gd name="connsiteX0" fmla="*/ 0 w 12192000"/>
              <a:gd name="connsiteY0" fmla="*/ 0 h 4549747"/>
              <a:gd name="connsiteX1" fmla="*/ 4679 w 12192000"/>
              <a:gd name="connsiteY1" fmla="*/ 0 h 4549747"/>
              <a:gd name="connsiteX2" fmla="*/ 18887 w 12192000"/>
              <a:gd name="connsiteY2" fmla="*/ 281361 h 4549747"/>
              <a:gd name="connsiteX3" fmla="*/ 3658142 w 12192000"/>
              <a:gd name="connsiteY3" fmla="*/ 3565479 h 4549747"/>
              <a:gd name="connsiteX4" fmla="*/ 3758325 w 12192000"/>
              <a:gd name="connsiteY4" fmla="*/ 3562945 h 4549747"/>
              <a:gd name="connsiteX5" fmla="*/ 3758325 w 12192000"/>
              <a:gd name="connsiteY5" fmla="*/ 3565479 h 4549747"/>
              <a:gd name="connsiteX6" fmla="*/ 11844593 w 12192000"/>
              <a:gd name="connsiteY6" fmla="*/ 3565479 h 4549747"/>
              <a:gd name="connsiteX7" fmla="*/ 11844593 w 12192000"/>
              <a:gd name="connsiteY7" fmla="*/ 3565476 h 4549747"/>
              <a:gd name="connsiteX8" fmla="*/ 12192000 w 12192000"/>
              <a:gd name="connsiteY8" fmla="*/ 3565476 h 4549747"/>
              <a:gd name="connsiteX9" fmla="*/ 12192000 w 12192000"/>
              <a:gd name="connsiteY9" fmla="*/ 4417168 h 4549747"/>
              <a:gd name="connsiteX10" fmla="*/ 12192000 w 12192000"/>
              <a:gd name="connsiteY10" fmla="*/ 4549747 h 4549747"/>
              <a:gd name="connsiteX11" fmla="*/ 0 w 12192000"/>
              <a:gd name="connsiteY11" fmla="*/ 4549747 h 454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4549747">
                <a:moveTo>
                  <a:pt x="0" y="0"/>
                </a:moveTo>
                <a:lnTo>
                  <a:pt x="4679" y="0"/>
                </a:lnTo>
                <a:lnTo>
                  <a:pt x="18887" y="281361"/>
                </a:lnTo>
                <a:cubicBezTo>
                  <a:pt x="206220" y="2126001"/>
                  <a:pt x="1764077" y="3565479"/>
                  <a:pt x="3658142" y="3565479"/>
                </a:cubicBezTo>
                <a:lnTo>
                  <a:pt x="3758325" y="3562945"/>
                </a:lnTo>
                <a:lnTo>
                  <a:pt x="3758325" y="3565479"/>
                </a:lnTo>
                <a:lnTo>
                  <a:pt x="11844593" y="3565479"/>
                </a:lnTo>
                <a:lnTo>
                  <a:pt x="11844593" y="3565476"/>
                </a:lnTo>
                <a:lnTo>
                  <a:pt x="12192000" y="3565476"/>
                </a:lnTo>
                <a:lnTo>
                  <a:pt x="12192000" y="4417168"/>
                </a:lnTo>
                <a:lnTo>
                  <a:pt x="12192000" y="4549747"/>
                </a:lnTo>
                <a:lnTo>
                  <a:pt x="0" y="4549747"/>
                </a:lnTo>
                <a:close/>
              </a:path>
            </a:pathLst>
          </a:custGeom>
          <a:solidFill>
            <a:schemeClr val="accent2">
              <a:lumMod val="75000"/>
              <a:alpha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9504103-6319-C1BA-994F-97D3A9F1AA56}"/>
              </a:ext>
            </a:extLst>
          </p:cNvPr>
          <p:cNvSpPr>
            <a:spLocks noGrp="1"/>
          </p:cNvSpPr>
          <p:nvPr>
            <p:ph type="title"/>
          </p:nvPr>
        </p:nvSpPr>
        <p:spPr>
          <a:xfrm>
            <a:off x="609600" y="685800"/>
            <a:ext cx="3358776" cy="3886200"/>
          </a:xfrm>
        </p:spPr>
        <p:txBody>
          <a:bodyPr vert="horz" lIns="91440" tIns="45720" rIns="91440" bIns="45720" rtlCol="0" anchor="t">
            <a:normAutofit/>
          </a:bodyPr>
          <a:lstStyle/>
          <a:p>
            <a:pPr>
              <a:lnSpc>
                <a:spcPct val="100000"/>
              </a:lnSpc>
            </a:pPr>
            <a:r>
              <a:rPr lang="en-US" sz="4400" dirty="0">
                <a:solidFill>
                  <a:srgbClr val="FFFFFF"/>
                </a:solidFill>
                <a:latin typeface="Times New Roman" panose="02020603050405020304" pitchFamily="18" charset="0"/>
                <a:cs typeface="Times New Roman" panose="02020603050405020304" pitchFamily="18" charset="0"/>
              </a:rPr>
              <a:t>Overview</a:t>
            </a:r>
          </a:p>
        </p:txBody>
      </p:sp>
      <p:graphicFrame>
        <p:nvGraphicFramePr>
          <p:cNvPr id="17" name="Content Placeholder 3">
            <a:extLst>
              <a:ext uri="{FF2B5EF4-FFF2-40B4-BE49-F238E27FC236}">
                <a16:creationId xmlns:a16="http://schemas.microsoft.com/office/drawing/2014/main" id="{7B229325-B359-D6A9-4312-6BE8FF65818E}"/>
              </a:ext>
            </a:extLst>
          </p:cNvPr>
          <p:cNvGraphicFramePr>
            <a:graphicFrameLocks noGrp="1"/>
          </p:cNvGraphicFramePr>
          <p:nvPr>
            <p:ph sz="quarter" idx="10"/>
            <p:extLst>
              <p:ext uri="{D42A27DB-BD31-4B8C-83A1-F6EECF244321}">
                <p14:modId xmlns:p14="http://schemas.microsoft.com/office/powerpoint/2010/main" val="1430831258"/>
              </p:ext>
            </p:extLst>
          </p:nvPr>
        </p:nvGraphicFramePr>
        <p:xfrm>
          <a:off x="4446165" y="129092"/>
          <a:ext cx="7581081" cy="5647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7017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0753087-C52D-9A01-8E83-B6DBA110FDE3}"/>
            </a:ext>
          </a:extLst>
        </p:cNvPr>
        <p:cNvGrpSpPr/>
        <p:nvPr/>
      </p:nvGrpSpPr>
      <p:grpSpPr>
        <a:xfrm>
          <a:off x="0" y="0"/>
          <a:ext cx="0" cy="0"/>
          <a:chOff x="0" y="0"/>
          <a:chExt cx="0" cy="0"/>
        </a:xfrm>
      </p:grpSpPr>
      <p:sp>
        <p:nvSpPr>
          <p:cNvPr id="22" name="Freeform: Shape 21">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Rectangle 23">
            <a:extLst>
              <a:ext uri="{FF2B5EF4-FFF2-40B4-BE49-F238E27FC236}">
                <a16:creationId xmlns:a16="http://schemas.microsoft.com/office/drawing/2014/main" id="{6AE74EBA-D2C0-48AE-BC45-68F2A5D40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B26DDCB-14E3-4156-835C-B9A6A430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203942" cy="21289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647205E-A8E4-0B29-BD30-81132D25842B}"/>
              </a:ext>
            </a:extLst>
          </p:cNvPr>
          <p:cNvSpPr>
            <a:spLocks noGrp="1"/>
          </p:cNvSpPr>
          <p:nvPr>
            <p:ph type="title"/>
          </p:nvPr>
        </p:nvSpPr>
        <p:spPr>
          <a:xfrm>
            <a:off x="385893" y="591670"/>
            <a:ext cx="9914860" cy="1105648"/>
          </a:xfrm>
        </p:spPr>
        <p:txBody>
          <a:bodyPr vert="horz" lIns="91440" tIns="45720" rIns="91440" bIns="45720" rtlCol="0" anchor="ctr">
            <a:normAutofit/>
          </a:bodyPr>
          <a:lstStyle/>
          <a:p>
            <a:pPr>
              <a:lnSpc>
                <a:spcPct val="100000"/>
              </a:lnSpc>
            </a:pPr>
            <a:r>
              <a:rPr lang="en-US" sz="4400" dirty="0">
                <a:solidFill>
                  <a:srgbClr val="FFFFFF"/>
                </a:solidFill>
                <a:latin typeface="Times New Roman" panose="02020603050405020304" pitchFamily="18" charset="0"/>
                <a:cs typeface="Times New Roman" panose="02020603050405020304" pitchFamily="18" charset="0"/>
              </a:rPr>
              <a:t>Goals for Sales Managers </a:t>
            </a:r>
          </a:p>
        </p:txBody>
      </p:sp>
      <p:sp>
        <p:nvSpPr>
          <p:cNvPr id="28" name="Freeform: Shape 27">
            <a:extLst>
              <a:ext uri="{FF2B5EF4-FFF2-40B4-BE49-F238E27FC236}">
                <a16:creationId xmlns:a16="http://schemas.microsoft.com/office/drawing/2014/main" id="{83299DC6-FC4C-47A5-B9DE-DD3011E19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860295" y="0"/>
            <a:ext cx="2343647" cy="4385568"/>
          </a:xfrm>
          <a:custGeom>
            <a:avLst/>
            <a:gdLst>
              <a:gd name="connsiteX0" fmla="*/ 0 w 2343647"/>
              <a:gd name="connsiteY0" fmla="*/ 0 h 4385568"/>
              <a:gd name="connsiteX1" fmla="*/ 13818 w 2343647"/>
              <a:gd name="connsiteY1" fmla="*/ 0 h 4385568"/>
              <a:gd name="connsiteX2" fmla="*/ 34560 w 2343647"/>
              <a:gd name="connsiteY2" fmla="*/ 141658 h 4385568"/>
              <a:gd name="connsiteX3" fmla="*/ 2208831 w 2343647"/>
              <a:gd name="connsiteY3" fmla="*/ 2118828 h 4385568"/>
              <a:gd name="connsiteX4" fmla="*/ 2343647 w 2343647"/>
              <a:gd name="connsiteY4" fmla="*/ 2125211 h 4385568"/>
              <a:gd name="connsiteX5" fmla="*/ 2208831 w 2343647"/>
              <a:gd name="connsiteY5" fmla="*/ 2131594 h 4385568"/>
              <a:gd name="connsiteX6" fmla="*/ 3143 w 2343647"/>
              <a:gd name="connsiteY6" fmla="*/ 4323325 h 4385568"/>
              <a:gd name="connsiteX7" fmla="*/ 0 w 2343647"/>
              <a:gd name="connsiteY7" fmla="*/ 4385568 h 438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3647" h="4385568">
                <a:moveTo>
                  <a:pt x="0" y="0"/>
                </a:moveTo>
                <a:lnTo>
                  <a:pt x="13818" y="0"/>
                </a:lnTo>
                <a:lnTo>
                  <a:pt x="34560" y="141658"/>
                </a:lnTo>
                <a:cubicBezTo>
                  <a:pt x="237593" y="1199063"/>
                  <a:pt x="1119361" y="2015131"/>
                  <a:pt x="2208831" y="2118828"/>
                </a:cubicBezTo>
                <a:lnTo>
                  <a:pt x="2343647" y="2125211"/>
                </a:lnTo>
                <a:lnTo>
                  <a:pt x="2208831" y="2131594"/>
                </a:lnTo>
                <a:cubicBezTo>
                  <a:pt x="1046730" y="2242204"/>
                  <a:pt x="120947" y="3163335"/>
                  <a:pt x="3143" y="4323325"/>
                </a:cubicBezTo>
                <a:lnTo>
                  <a:pt x="0" y="43855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455CAC4-59BE-4CCB-9569-D2A1AAA3A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860295" y="0"/>
            <a:ext cx="2343647" cy="4385568"/>
          </a:xfrm>
          <a:custGeom>
            <a:avLst/>
            <a:gdLst>
              <a:gd name="connsiteX0" fmla="*/ 0 w 2343647"/>
              <a:gd name="connsiteY0" fmla="*/ 0 h 4385568"/>
              <a:gd name="connsiteX1" fmla="*/ 13818 w 2343647"/>
              <a:gd name="connsiteY1" fmla="*/ 0 h 4385568"/>
              <a:gd name="connsiteX2" fmla="*/ 34560 w 2343647"/>
              <a:gd name="connsiteY2" fmla="*/ 141658 h 4385568"/>
              <a:gd name="connsiteX3" fmla="*/ 2208831 w 2343647"/>
              <a:gd name="connsiteY3" fmla="*/ 2118828 h 4385568"/>
              <a:gd name="connsiteX4" fmla="*/ 2343647 w 2343647"/>
              <a:gd name="connsiteY4" fmla="*/ 2125211 h 4385568"/>
              <a:gd name="connsiteX5" fmla="*/ 2208831 w 2343647"/>
              <a:gd name="connsiteY5" fmla="*/ 2131594 h 4385568"/>
              <a:gd name="connsiteX6" fmla="*/ 3143 w 2343647"/>
              <a:gd name="connsiteY6" fmla="*/ 4323325 h 4385568"/>
              <a:gd name="connsiteX7" fmla="*/ 0 w 2343647"/>
              <a:gd name="connsiteY7" fmla="*/ 4385568 h 438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3647" h="4385568">
                <a:moveTo>
                  <a:pt x="0" y="0"/>
                </a:moveTo>
                <a:lnTo>
                  <a:pt x="13818" y="0"/>
                </a:lnTo>
                <a:lnTo>
                  <a:pt x="34560" y="141658"/>
                </a:lnTo>
                <a:cubicBezTo>
                  <a:pt x="237593" y="1199063"/>
                  <a:pt x="1119361" y="2015131"/>
                  <a:pt x="2208831" y="2118828"/>
                </a:cubicBezTo>
                <a:lnTo>
                  <a:pt x="2343647" y="2125211"/>
                </a:lnTo>
                <a:lnTo>
                  <a:pt x="2208831" y="2131594"/>
                </a:lnTo>
                <a:cubicBezTo>
                  <a:pt x="1046730" y="2242204"/>
                  <a:pt x="120947" y="3163335"/>
                  <a:pt x="3143" y="4323325"/>
                </a:cubicBezTo>
                <a:lnTo>
                  <a:pt x="0" y="4385568"/>
                </a:ln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 name="Content Placeholder 3">
            <a:extLst>
              <a:ext uri="{FF2B5EF4-FFF2-40B4-BE49-F238E27FC236}">
                <a16:creationId xmlns:a16="http://schemas.microsoft.com/office/drawing/2014/main" id="{E0F6FF22-C46A-D37C-2EA6-AE949915AA4E}"/>
              </a:ext>
            </a:extLst>
          </p:cNvPr>
          <p:cNvGraphicFramePr>
            <a:graphicFrameLocks/>
          </p:cNvGraphicFramePr>
          <p:nvPr>
            <p:extLst>
              <p:ext uri="{D42A27DB-BD31-4B8C-83A1-F6EECF244321}">
                <p14:modId xmlns:p14="http://schemas.microsoft.com/office/powerpoint/2010/main" val="3647164004"/>
              </p:ext>
            </p:extLst>
          </p:nvPr>
        </p:nvGraphicFramePr>
        <p:xfrm>
          <a:off x="205920" y="2432807"/>
          <a:ext cx="10506822" cy="3716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1" name="Ink 10">
                <a:extLst>
                  <a:ext uri="{FF2B5EF4-FFF2-40B4-BE49-F238E27FC236}">
                    <a16:creationId xmlns:a16="http://schemas.microsoft.com/office/drawing/2014/main" id="{C3919765-1DFC-203E-2F96-CF73F20FBEEE}"/>
                  </a:ext>
                </a:extLst>
              </p14:cNvPr>
              <p14:cNvContentPartPr/>
              <p14:nvPr/>
            </p14:nvContentPartPr>
            <p14:xfrm>
              <a:off x="1752525" y="3562245"/>
              <a:ext cx="360" cy="360"/>
            </p14:xfrm>
          </p:contentPart>
        </mc:Choice>
        <mc:Fallback xmlns="">
          <p:pic>
            <p:nvPicPr>
              <p:cNvPr id="11" name="Ink 10">
                <a:extLst>
                  <a:ext uri="{FF2B5EF4-FFF2-40B4-BE49-F238E27FC236}">
                    <a16:creationId xmlns:a16="http://schemas.microsoft.com/office/drawing/2014/main" id="{C3919765-1DFC-203E-2F96-CF73F20FBEEE}"/>
                  </a:ext>
                </a:extLst>
              </p:cNvPr>
              <p:cNvPicPr/>
              <p:nvPr/>
            </p:nvPicPr>
            <p:blipFill>
              <a:blip r:embed="rId9"/>
              <a:stretch>
                <a:fillRect/>
              </a:stretch>
            </p:blipFill>
            <p:spPr>
              <a:xfrm>
                <a:off x="1743885" y="3553605"/>
                <a:ext cx="18000" cy="18000"/>
              </a:xfrm>
              <a:prstGeom prst="rect">
                <a:avLst/>
              </a:prstGeom>
            </p:spPr>
          </p:pic>
        </mc:Fallback>
      </mc:AlternateContent>
    </p:spTree>
    <p:extLst>
      <p:ext uri="{BB962C8B-B14F-4D97-AF65-F5344CB8AC3E}">
        <p14:creationId xmlns:p14="http://schemas.microsoft.com/office/powerpoint/2010/main" val="129547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3E6F7A1-8D58-5AB4-FFA5-44D731CE8517}"/>
            </a:ext>
          </a:extLst>
        </p:cNvPr>
        <p:cNvGrpSpPr/>
        <p:nvPr/>
      </p:nvGrpSpPr>
      <p:grpSpPr>
        <a:xfrm>
          <a:off x="0" y="0"/>
          <a:ext cx="0" cy="0"/>
          <a:chOff x="0" y="0"/>
          <a:chExt cx="0" cy="0"/>
        </a:xfrm>
      </p:grpSpPr>
      <p:sp>
        <p:nvSpPr>
          <p:cNvPr id="35" name="Freeform: Shape 34">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Rectangle 36">
            <a:extLst>
              <a:ext uri="{FF2B5EF4-FFF2-40B4-BE49-F238E27FC236}">
                <a16:creationId xmlns:a16="http://schemas.microsoft.com/office/drawing/2014/main" id="{6AE74EBA-D2C0-48AE-BC45-68F2A5D40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B26DDCB-14E3-4156-835C-B9A6A430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203942" cy="21289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AD8B89-6EC9-9E66-6BF8-7FFC210EC211}"/>
              </a:ext>
            </a:extLst>
          </p:cNvPr>
          <p:cNvSpPr>
            <a:spLocks noGrp="1"/>
          </p:cNvSpPr>
          <p:nvPr>
            <p:ph type="title"/>
          </p:nvPr>
        </p:nvSpPr>
        <p:spPr>
          <a:xfrm>
            <a:off x="402671" y="591670"/>
            <a:ext cx="9914860" cy="1105648"/>
          </a:xfrm>
        </p:spPr>
        <p:txBody>
          <a:bodyPr vert="horz" lIns="91440" tIns="45720" rIns="91440" bIns="45720" rtlCol="0" anchor="ctr">
            <a:normAutofit/>
          </a:bodyPr>
          <a:lstStyle/>
          <a:p>
            <a:pPr>
              <a:lnSpc>
                <a:spcPct val="100000"/>
              </a:lnSpc>
            </a:pPr>
            <a:r>
              <a:rPr lang="en-US" sz="4400" dirty="0">
                <a:solidFill>
                  <a:srgbClr val="FFFFFF"/>
                </a:solidFill>
                <a:latin typeface="Times New Roman" panose="02020603050405020304" pitchFamily="18" charset="0"/>
                <a:cs typeface="Times New Roman" panose="02020603050405020304" pitchFamily="18" charset="0"/>
              </a:rPr>
              <a:t>Questions </a:t>
            </a:r>
          </a:p>
        </p:txBody>
      </p:sp>
      <p:sp>
        <p:nvSpPr>
          <p:cNvPr id="41" name="Freeform: Shape 40">
            <a:extLst>
              <a:ext uri="{FF2B5EF4-FFF2-40B4-BE49-F238E27FC236}">
                <a16:creationId xmlns:a16="http://schemas.microsoft.com/office/drawing/2014/main" id="{83299DC6-FC4C-47A5-B9DE-DD3011E19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860295" y="0"/>
            <a:ext cx="2343647" cy="4385568"/>
          </a:xfrm>
          <a:custGeom>
            <a:avLst/>
            <a:gdLst>
              <a:gd name="connsiteX0" fmla="*/ 0 w 2343647"/>
              <a:gd name="connsiteY0" fmla="*/ 0 h 4385568"/>
              <a:gd name="connsiteX1" fmla="*/ 13818 w 2343647"/>
              <a:gd name="connsiteY1" fmla="*/ 0 h 4385568"/>
              <a:gd name="connsiteX2" fmla="*/ 34560 w 2343647"/>
              <a:gd name="connsiteY2" fmla="*/ 141658 h 4385568"/>
              <a:gd name="connsiteX3" fmla="*/ 2208831 w 2343647"/>
              <a:gd name="connsiteY3" fmla="*/ 2118828 h 4385568"/>
              <a:gd name="connsiteX4" fmla="*/ 2343647 w 2343647"/>
              <a:gd name="connsiteY4" fmla="*/ 2125211 h 4385568"/>
              <a:gd name="connsiteX5" fmla="*/ 2208831 w 2343647"/>
              <a:gd name="connsiteY5" fmla="*/ 2131594 h 4385568"/>
              <a:gd name="connsiteX6" fmla="*/ 3143 w 2343647"/>
              <a:gd name="connsiteY6" fmla="*/ 4323325 h 4385568"/>
              <a:gd name="connsiteX7" fmla="*/ 0 w 2343647"/>
              <a:gd name="connsiteY7" fmla="*/ 4385568 h 438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3647" h="4385568">
                <a:moveTo>
                  <a:pt x="0" y="0"/>
                </a:moveTo>
                <a:lnTo>
                  <a:pt x="13818" y="0"/>
                </a:lnTo>
                <a:lnTo>
                  <a:pt x="34560" y="141658"/>
                </a:lnTo>
                <a:cubicBezTo>
                  <a:pt x="237593" y="1199063"/>
                  <a:pt x="1119361" y="2015131"/>
                  <a:pt x="2208831" y="2118828"/>
                </a:cubicBezTo>
                <a:lnTo>
                  <a:pt x="2343647" y="2125211"/>
                </a:lnTo>
                <a:lnTo>
                  <a:pt x="2208831" y="2131594"/>
                </a:lnTo>
                <a:cubicBezTo>
                  <a:pt x="1046730" y="2242204"/>
                  <a:pt x="120947" y="3163335"/>
                  <a:pt x="3143" y="4323325"/>
                </a:cubicBezTo>
                <a:lnTo>
                  <a:pt x="0" y="43855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A455CAC4-59BE-4CCB-9569-D2A1AAA3A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860295" y="0"/>
            <a:ext cx="2343647" cy="4385568"/>
          </a:xfrm>
          <a:custGeom>
            <a:avLst/>
            <a:gdLst>
              <a:gd name="connsiteX0" fmla="*/ 0 w 2343647"/>
              <a:gd name="connsiteY0" fmla="*/ 0 h 4385568"/>
              <a:gd name="connsiteX1" fmla="*/ 13818 w 2343647"/>
              <a:gd name="connsiteY1" fmla="*/ 0 h 4385568"/>
              <a:gd name="connsiteX2" fmla="*/ 34560 w 2343647"/>
              <a:gd name="connsiteY2" fmla="*/ 141658 h 4385568"/>
              <a:gd name="connsiteX3" fmla="*/ 2208831 w 2343647"/>
              <a:gd name="connsiteY3" fmla="*/ 2118828 h 4385568"/>
              <a:gd name="connsiteX4" fmla="*/ 2343647 w 2343647"/>
              <a:gd name="connsiteY4" fmla="*/ 2125211 h 4385568"/>
              <a:gd name="connsiteX5" fmla="*/ 2208831 w 2343647"/>
              <a:gd name="connsiteY5" fmla="*/ 2131594 h 4385568"/>
              <a:gd name="connsiteX6" fmla="*/ 3143 w 2343647"/>
              <a:gd name="connsiteY6" fmla="*/ 4323325 h 4385568"/>
              <a:gd name="connsiteX7" fmla="*/ 0 w 2343647"/>
              <a:gd name="connsiteY7" fmla="*/ 4385568 h 438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3647" h="4385568">
                <a:moveTo>
                  <a:pt x="0" y="0"/>
                </a:moveTo>
                <a:lnTo>
                  <a:pt x="13818" y="0"/>
                </a:lnTo>
                <a:lnTo>
                  <a:pt x="34560" y="141658"/>
                </a:lnTo>
                <a:cubicBezTo>
                  <a:pt x="237593" y="1199063"/>
                  <a:pt x="1119361" y="2015131"/>
                  <a:pt x="2208831" y="2118828"/>
                </a:cubicBezTo>
                <a:lnTo>
                  <a:pt x="2343647" y="2125211"/>
                </a:lnTo>
                <a:lnTo>
                  <a:pt x="2208831" y="2131594"/>
                </a:lnTo>
                <a:cubicBezTo>
                  <a:pt x="1046730" y="2242204"/>
                  <a:pt x="120947" y="3163335"/>
                  <a:pt x="3143" y="4323325"/>
                </a:cubicBezTo>
                <a:lnTo>
                  <a:pt x="0" y="4385568"/>
                </a:ln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17" name="Content Placeholder 3">
            <a:extLst>
              <a:ext uri="{FF2B5EF4-FFF2-40B4-BE49-F238E27FC236}">
                <a16:creationId xmlns:a16="http://schemas.microsoft.com/office/drawing/2014/main" id="{70D52B33-AE1C-AC93-F801-3B24CAD53232}"/>
              </a:ext>
            </a:extLst>
          </p:cNvPr>
          <p:cNvGraphicFramePr>
            <a:graphicFrameLocks noGrp="1"/>
          </p:cNvGraphicFramePr>
          <p:nvPr>
            <p:ph sz="quarter" idx="10"/>
            <p:extLst>
              <p:ext uri="{D42A27DB-BD31-4B8C-83A1-F6EECF244321}">
                <p14:modId xmlns:p14="http://schemas.microsoft.com/office/powerpoint/2010/main" val="160300908"/>
              </p:ext>
            </p:extLst>
          </p:nvPr>
        </p:nvGraphicFramePr>
        <p:xfrm>
          <a:off x="222328" y="2395320"/>
          <a:ext cx="10876308" cy="4299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8">
            <p14:nvContentPartPr>
              <p14:cNvPr id="2" name="Ink 1">
                <a:extLst>
                  <a:ext uri="{FF2B5EF4-FFF2-40B4-BE49-F238E27FC236}">
                    <a16:creationId xmlns:a16="http://schemas.microsoft.com/office/drawing/2014/main" id="{8903DFF0-E077-2420-FF80-6AE626497408}"/>
                  </a:ext>
                </a:extLst>
              </p14:cNvPr>
              <p14:cNvContentPartPr/>
              <p14:nvPr/>
            </p14:nvContentPartPr>
            <p14:xfrm>
              <a:off x="10124685" y="2914245"/>
              <a:ext cx="360" cy="360"/>
            </p14:xfrm>
          </p:contentPart>
        </mc:Choice>
        <mc:Fallback xmlns="">
          <p:pic>
            <p:nvPicPr>
              <p:cNvPr id="2" name="Ink 1">
                <a:extLst>
                  <a:ext uri="{FF2B5EF4-FFF2-40B4-BE49-F238E27FC236}">
                    <a16:creationId xmlns:a16="http://schemas.microsoft.com/office/drawing/2014/main" id="{8903DFF0-E077-2420-FF80-6AE626497408}"/>
                  </a:ext>
                </a:extLst>
              </p:cNvPr>
              <p:cNvPicPr/>
              <p:nvPr/>
            </p:nvPicPr>
            <p:blipFill>
              <a:blip r:embed="rId9"/>
              <a:stretch>
                <a:fillRect/>
              </a:stretch>
            </p:blipFill>
            <p:spPr>
              <a:xfrm>
                <a:off x="10115685" y="2905245"/>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4" name="Ink 3">
                <a:extLst>
                  <a:ext uri="{FF2B5EF4-FFF2-40B4-BE49-F238E27FC236}">
                    <a16:creationId xmlns:a16="http://schemas.microsoft.com/office/drawing/2014/main" id="{4BE9853D-CE3D-F3C0-7FC9-763439695B3D}"/>
                  </a:ext>
                </a:extLst>
              </p14:cNvPr>
              <p14:cNvContentPartPr/>
              <p14:nvPr/>
            </p14:nvContentPartPr>
            <p14:xfrm>
              <a:off x="4762125" y="2904885"/>
              <a:ext cx="360" cy="360"/>
            </p14:xfrm>
          </p:contentPart>
        </mc:Choice>
        <mc:Fallback xmlns="">
          <p:pic>
            <p:nvPicPr>
              <p:cNvPr id="4" name="Ink 3">
                <a:extLst>
                  <a:ext uri="{FF2B5EF4-FFF2-40B4-BE49-F238E27FC236}">
                    <a16:creationId xmlns:a16="http://schemas.microsoft.com/office/drawing/2014/main" id="{4BE9853D-CE3D-F3C0-7FC9-763439695B3D}"/>
                  </a:ext>
                </a:extLst>
              </p:cNvPr>
              <p:cNvPicPr/>
              <p:nvPr/>
            </p:nvPicPr>
            <p:blipFill>
              <a:blip r:embed="rId11"/>
              <a:stretch>
                <a:fillRect/>
              </a:stretch>
            </p:blipFill>
            <p:spPr>
              <a:xfrm>
                <a:off x="4753125" y="2895885"/>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5" name="Ink 4">
                <a:extLst>
                  <a:ext uri="{FF2B5EF4-FFF2-40B4-BE49-F238E27FC236}">
                    <a16:creationId xmlns:a16="http://schemas.microsoft.com/office/drawing/2014/main" id="{25B46D82-1282-8A2B-91D7-DECBBB00151B}"/>
                  </a:ext>
                </a:extLst>
              </p14:cNvPr>
              <p14:cNvContentPartPr/>
              <p14:nvPr/>
            </p14:nvContentPartPr>
            <p14:xfrm>
              <a:off x="8725005" y="1685730"/>
              <a:ext cx="360" cy="360"/>
            </p14:xfrm>
          </p:contentPart>
        </mc:Choice>
        <mc:Fallback xmlns="">
          <p:pic>
            <p:nvPicPr>
              <p:cNvPr id="5" name="Ink 4">
                <a:extLst>
                  <a:ext uri="{FF2B5EF4-FFF2-40B4-BE49-F238E27FC236}">
                    <a16:creationId xmlns:a16="http://schemas.microsoft.com/office/drawing/2014/main" id="{25B46D82-1282-8A2B-91D7-DECBBB00151B}"/>
                  </a:ext>
                </a:extLst>
              </p:cNvPr>
              <p:cNvPicPr/>
              <p:nvPr/>
            </p:nvPicPr>
            <p:blipFill>
              <a:blip r:embed="rId13"/>
              <a:stretch>
                <a:fillRect/>
              </a:stretch>
            </p:blipFill>
            <p:spPr>
              <a:xfrm>
                <a:off x="8716005" y="1676730"/>
                <a:ext cx="18000" cy="18000"/>
              </a:xfrm>
              <a:prstGeom prst="rect">
                <a:avLst/>
              </a:prstGeom>
            </p:spPr>
          </p:pic>
        </mc:Fallback>
      </mc:AlternateContent>
    </p:spTree>
    <p:extLst>
      <p:ext uri="{BB962C8B-B14F-4D97-AF65-F5344CB8AC3E}">
        <p14:creationId xmlns:p14="http://schemas.microsoft.com/office/powerpoint/2010/main" val="897993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1FCE-D41F-E9CF-862F-7CBBE015A209}"/>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Power BI Sales Report</a:t>
            </a:r>
          </a:p>
        </p:txBody>
      </p:sp>
    </p:spTree>
    <p:extLst>
      <p:ext uri="{BB962C8B-B14F-4D97-AF65-F5344CB8AC3E}">
        <p14:creationId xmlns:p14="http://schemas.microsoft.com/office/powerpoint/2010/main" val="1356595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44" name="Rectangle 43">
            <a:extLst>
              <a:ext uri="{FF2B5EF4-FFF2-40B4-BE49-F238E27FC236}">
                <a16:creationId xmlns:a16="http://schemas.microsoft.com/office/drawing/2014/main" id="{1BF0D3EE-070A-4852-8B5A-AA44D3E81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6F84D80-35B1-45B0-84DF-5743E83EE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AC425E51-0F1B-4840-982B-B92C28F42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096486"/>
            <a:ext cx="12192607" cy="5779769"/>
          </a:xfrm>
          <a:custGeom>
            <a:avLst/>
            <a:gdLst>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11845200 w 12192607"/>
              <a:gd name="connsiteY6" fmla="*/ 2214290 h 5779769"/>
              <a:gd name="connsiteX7" fmla="*/ 3758932 w 12192607"/>
              <a:gd name="connsiteY7" fmla="*/ 2214290 h 5779769"/>
              <a:gd name="connsiteX8" fmla="*/ 3758932 w 12192607"/>
              <a:gd name="connsiteY8" fmla="*/ 2216824 h 5779769"/>
              <a:gd name="connsiteX9" fmla="*/ 3658749 w 12192607"/>
              <a:gd name="connsiteY9" fmla="*/ 2214290 h 5779769"/>
              <a:gd name="connsiteX10" fmla="*/ 19494 w 12192607"/>
              <a:gd name="connsiteY10" fmla="*/ 5498408 h 5779769"/>
              <a:gd name="connsiteX11" fmla="*/ 5286 w 12192607"/>
              <a:gd name="connsiteY11" fmla="*/ 5779769 h 5779769"/>
              <a:gd name="connsiteX12" fmla="*/ 607 w 12192607"/>
              <a:gd name="connsiteY12" fmla="*/ 5779769 h 5779769"/>
              <a:gd name="connsiteX13" fmla="*/ 607 w 12192607"/>
              <a:gd name="connsiteY13" fmla="*/ 1275833 h 5779769"/>
              <a:gd name="connsiteX14" fmla="*/ 0 w 12192607"/>
              <a:gd name="connsiteY14" fmla="*/ 1275833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11845200 w 12192607"/>
              <a:gd name="connsiteY6" fmla="*/ 2214290 h 5779769"/>
              <a:gd name="connsiteX7" fmla="*/ 3758932 w 12192607"/>
              <a:gd name="connsiteY7" fmla="*/ 2214290 h 5779769"/>
              <a:gd name="connsiteX8" fmla="*/ 3658749 w 12192607"/>
              <a:gd name="connsiteY8" fmla="*/ 2214290 h 5779769"/>
              <a:gd name="connsiteX9" fmla="*/ 19494 w 12192607"/>
              <a:gd name="connsiteY9" fmla="*/ 5498408 h 5779769"/>
              <a:gd name="connsiteX10" fmla="*/ 5286 w 12192607"/>
              <a:gd name="connsiteY10" fmla="*/ 5779769 h 5779769"/>
              <a:gd name="connsiteX11" fmla="*/ 607 w 12192607"/>
              <a:gd name="connsiteY11" fmla="*/ 5779769 h 5779769"/>
              <a:gd name="connsiteX12" fmla="*/ 607 w 12192607"/>
              <a:gd name="connsiteY12" fmla="*/ 1275833 h 5779769"/>
              <a:gd name="connsiteX13" fmla="*/ 0 w 12192607"/>
              <a:gd name="connsiteY13" fmla="*/ 1275833 h 5779769"/>
              <a:gd name="connsiteX14" fmla="*/ 0 w 12192607"/>
              <a:gd name="connsiteY14"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3758932 w 12192607"/>
              <a:gd name="connsiteY6" fmla="*/ 2214290 h 5779769"/>
              <a:gd name="connsiteX7" fmla="*/ 3658749 w 12192607"/>
              <a:gd name="connsiteY7" fmla="*/ 2214290 h 5779769"/>
              <a:gd name="connsiteX8" fmla="*/ 19494 w 12192607"/>
              <a:gd name="connsiteY8" fmla="*/ 5498408 h 5779769"/>
              <a:gd name="connsiteX9" fmla="*/ 5286 w 12192607"/>
              <a:gd name="connsiteY9" fmla="*/ 5779769 h 5779769"/>
              <a:gd name="connsiteX10" fmla="*/ 607 w 12192607"/>
              <a:gd name="connsiteY10" fmla="*/ 5779769 h 5779769"/>
              <a:gd name="connsiteX11" fmla="*/ 607 w 12192607"/>
              <a:gd name="connsiteY11" fmla="*/ 1275833 h 5779769"/>
              <a:gd name="connsiteX12" fmla="*/ 0 w 12192607"/>
              <a:gd name="connsiteY12" fmla="*/ 1275833 h 5779769"/>
              <a:gd name="connsiteX13" fmla="*/ 0 w 12192607"/>
              <a:gd name="connsiteY13"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3758932 w 12192607"/>
              <a:gd name="connsiteY5" fmla="*/ 2214290 h 5779769"/>
              <a:gd name="connsiteX6" fmla="*/ 3658749 w 12192607"/>
              <a:gd name="connsiteY6" fmla="*/ 2214290 h 5779769"/>
              <a:gd name="connsiteX7" fmla="*/ 19494 w 12192607"/>
              <a:gd name="connsiteY7" fmla="*/ 5498408 h 5779769"/>
              <a:gd name="connsiteX8" fmla="*/ 5286 w 12192607"/>
              <a:gd name="connsiteY8" fmla="*/ 5779769 h 5779769"/>
              <a:gd name="connsiteX9" fmla="*/ 607 w 12192607"/>
              <a:gd name="connsiteY9" fmla="*/ 5779769 h 5779769"/>
              <a:gd name="connsiteX10" fmla="*/ 607 w 12192607"/>
              <a:gd name="connsiteY10" fmla="*/ 1275833 h 5779769"/>
              <a:gd name="connsiteX11" fmla="*/ 0 w 12192607"/>
              <a:gd name="connsiteY11" fmla="*/ 1275833 h 5779769"/>
              <a:gd name="connsiteX12" fmla="*/ 0 w 12192607"/>
              <a:gd name="connsiteY12"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3658749 w 12192607"/>
              <a:gd name="connsiteY5" fmla="*/ 2214290 h 5779769"/>
              <a:gd name="connsiteX6" fmla="*/ 19494 w 12192607"/>
              <a:gd name="connsiteY6" fmla="*/ 5498408 h 5779769"/>
              <a:gd name="connsiteX7" fmla="*/ 5286 w 12192607"/>
              <a:gd name="connsiteY7" fmla="*/ 5779769 h 5779769"/>
              <a:gd name="connsiteX8" fmla="*/ 607 w 12192607"/>
              <a:gd name="connsiteY8" fmla="*/ 5779769 h 5779769"/>
              <a:gd name="connsiteX9" fmla="*/ 607 w 12192607"/>
              <a:gd name="connsiteY9" fmla="*/ 1275833 h 5779769"/>
              <a:gd name="connsiteX10" fmla="*/ 0 w 12192607"/>
              <a:gd name="connsiteY10" fmla="*/ 1275833 h 5779769"/>
              <a:gd name="connsiteX11" fmla="*/ 0 w 12192607"/>
              <a:gd name="connsiteY11" fmla="*/ 0 h 577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607" h="5779769">
                <a:moveTo>
                  <a:pt x="0" y="0"/>
                </a:moveTo>
                <a:lnTo>
                  <a:pt x="12192607" y="0"/>
                </a:lnTo>
                <a:lnTo>
                  <a:pt x="12192607" y="614088"/>
                </a:lnTo>
                <a:lnTo>
                  <a:pt x="12192607" y="1275833"/>
                </a:lnTo>
                <a:lnTo>
                  <a:pt x="12192607" y="2214293"/>
                </a:lnTo>
                <a:lnTo>
                  <a:pt x="3658749" y="2214290"/>
                </a:lnTo>
                <a:cubicBezTo>
                  <a:pt x="1764684" y="2214290"/>
                  <a:pt x="206827" y="3653768"/>
                  <a:pt x="19494" y="5498408"/>
                </a:cubicBezTo>
                <a:lnTo>
                  <a:pt x="5286" y="5779769"/>
                </a:lnTo>
                <a:lnTo>
                  <a:pt x="607" y="5779769"/>
                </a:lnTo>
                <a:lnTo>
                  <a:pt x="607" y="1275833"/>
                </a:lnTo>
                <a:lnTo>
                  <a:pt x="0" y="1275833"/>
                </a:lnTo>
                <a:lnTo>
                  <a:pt x="0" y="0"/>
                </a:ln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023EDB88-A5F6-4BA8-9DFE-7C07E5A0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646" y="0"/>
            <a:ext cx="11905352" cy="6858000"/>
          </a:xfrm>
          <a:custGeom>
            <a:avLst/>
            <a:gdLst>
              <a:gd name="connsiteX0" fmla="*/ 154644 w 11905352"/>
              <a:gd name="connsiteY0" fmla="*/ 0 h 6858000"/>
              <a:gd name="connsiteX1" fmla="*/ 5037827 w 11905352"/>
              <a:gd name="connsiteY1" fmla="*/ 0 h 6858000"/>
              <a:gd name="connsiteX2" fmla="*/ 5869355 w 11905352"/>
              <a:gd name="connsiteY2" fmla="*/ 0 h 6858000"/>
              <a:gd name="connsiteX3" fmla="*/ 11905352 w 11905352"/>
              <a:gd name="connsiteY3" fmla="*/ 0 h 6858000"/>
              <a:gd name="connsiteX4" fmla="*/ 11905352 w 11905352"/>
              <a:gd name="connsiteY4" fmla="*/ 6858000 h 6858000"/>
              <a:gd name="connsiteX5" fmla="*/ 5869355 w 11905352"/>
              <a:gd name="connsiteY5" fmla="*/ 6858000 h 6858000"/>
              <a:gd name="connsiteX6" fmla="*/ 5037827 w 11905352"/>
              <a:gd name="connsiteY6" fmla="*/ 6858000 h 6858000"/>
              <a:gd name="connsiteX7" fmla="*/ 0 w 11905352"/>
              <a:gd name="connsiteY7" fmla="*/ 6858000 h 6858000"/>
              <a:gd name="connsiteX8" fmla="*/ 3430955 w 11905352"/>
              <a:gd name="connsiteY8" fmla="*/ 3427045 h 6858000"/>
              <a:gd name="connsiteX9" fmla="*/ 176556 w 11905352"/>
              <a:gd name="connsiteY9" fmla="*/ 5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5352" h="6858000">
                <a:moveTo>
                  <a:pt x="154644" y="0"/>
                </a:moveTo>
                <a:lnTo>
                  <a:pt x="5037827" y="0"/>
                </a:lnTo>
                <a:lnTo>
                  <a:pt x="5869355" y="0"/>
                </a:lnTo>
                <a:lnTo>
                  <a:pt x="11905352" y="0"/>
                </a:lnTo>
                <a:lnTo>
                  <a:pt x="11905352" y="6858000"/>
                </a:lnTo>
                <a:lnTo>
                  <a:pt x="5869355" y="6858000"/>
                </a:lnTo>
                <a:lnTo>
                  <a:pt x="5037827" y="6858000"/>
                </a:lnTo>
                <a:lnTo>
                  <a:pt x="0" y="6858000"/>
                </a:lnTo>
                <a:cubicBezTo>
                  <a:pt x="1894864" y="6858000"/>
                  <a:pt x="3430955" y="5321909"/>
                  <a:pt x="3430955" y="3427045"/>
                </a:cubicBezTo>
                <a:cubicBezTo>
                  <a:pt x="3430955" y="1591396"/>
                  <a:pt x="1989370" y="92446"/>
                  <a:pt x="176556" y="554"/>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569F247B-257A-498F-9D12-D98D33DB6A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95316" y="-49794"/>
            <a:ext cx="3132577" cy="3260792"/>
          </a:xfrm>
          <a:custGeom>
            <a:avLst/>
            <a:gdLst>
              <a:gd name="connsiteX0" fmla="*/ 3132577 w 3132577"/>
              <a:gd name="connsiteY0" fmla="*/ 0 h 3260792"/>
              <a:gd name="connsiteX1" fmla="*/ 3132577 w 3132577"/>
              <a:gd name="connsiteY1" fmla="*/ 3260792 h 3260792"/>
              <a:gd name="connsiteX2" fmla="*/ 0 w 3132577"/>
              <a:gd name="connsiteY2" fmla="*/ 3260792 h 3260792"/>
              <a:gd name="connsiteX3" fmla="*/ 49518 w 3132577"/>
              <a:gd name="connsiteY3" fmla="*/ 3254500 h 3260792"/>
              <a:gd name="connsiteX4" fmla="*/ 3131620 w 3132577"/>
              <a:gd name="connsiteY4" fmla="*/ 12589 h 32607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2577" h="3260792">
                <a:moveTo>
                  <a:pt x="3132577" y="0"/>
                </a:moveTo>
                <a:lnTo>
                  <a:pt x="3132577" y="3260792"/>
                </a:lnTo>
                <a:lnTo>
                  <a:pt x="0" y="3260792"/>
                </a:lnTo>
                <a:lnTo>
                  <a:pt x="49518" y="3254500"/>
                </a:lnTo>
                <a:cubicBezTo>
                  <a:pt x="1684321" y="3004707"/>
                  <a:pt x="2963023" y="1672736"/>
                  <a:pt x="3131620" y="12589"/>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5">
            <a:extLst>
              <a:ext uri="{FF2B5EF4-FFF2-40B4-BE49-F238E27FC236}">
                <a16:creationId xmlns:a16="http://schemas.microsoft.com/office/drawing/2014/main" id="{6C71D8FC-E122-CABE-6FCE-615B2C341934}"/>
              </a:ext>
            </a:extLst>
          </p:cNvPr>
          <p:cNvSpPr>
            <a:spLocks noGrp="1"/>
          </p:cNvSpPr>
          <p:nvPr>
            <p:ph type="title"/>
          </p:nvPr>
        </p:nvSpPr>
        <p:spPr>
          <a:xfrm>
            <a:off x="4267200" y="685800"/>
            <a:ext cx="6826624" cy="3402106"/>
          </a:xfrm>
        </p:spPr>
        <p:txBody>
          <a:bodyPr vert="horz" lIns="91440" tIns="45720" rIns="91440" bIns="45720" rtlCol="0" anchor="b">
            <a:normAutofit/>
          </a:bodyPr>
          <a:lstStyle/>
          <a:p>
            <a:pPr>
              <a:lnSpc>
                <a:spcPct val="100000"/>
              </a:lnSpc>
            </a:pPr>
            <a:r>
              <a:rPr lang="en-US" sz="5400" dirty="0">
                <a:solidFill>
                  <a:srgbClr val="FFFFFF"/>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80806097"/>
      </p:ext>
    </p:extLst>
  </p:cSld>
  <p:clrMapOvr>
    <a:masterClrMapping/>
  </p:clrMapOvr>
</p:sld>
</file>

<file path=ppt/theme/theme1.xml><?xml version="1.0" encoding="utf-8"?>
<a:theme xmlns:a="http://schemas.openxmlformats.org/drawingml/2006/main" name="ModOverlayVTI">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D7C3E5-1734-4636-9EC5-AEB06BF1FB2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4C5C2001-E626-4890-B405-22B5BD1CB05A}">
  <ds:schemaRefs>
    <ds:schemaRef ds:uri="http://schemas.microsoft.com/sharepoint/v3/contenttype/forms"/>
  </ds:schemaRefs>
</ds:datastoreItem>
</file>

<file path=customXml/itemProps3.xml><?xml version="1.0" encoding="utf-8"?>
<ds:datastoreItem xmlns:ds="http://schemas.openxmlformats.org/officeDocument/2006/customXml" ds:itemID="{55453AF4-4FB0-4B39-9296-55DED383E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{79F112BB-38DC-440D-A662-54FEA60B7089}TFce6c19b5-b857-4146-b2d9-33ca01394bc5af92e1a2_win32-293333268dd9</Template>
  <TotalTime>18932</TotalTime>
  <Words>268</Words>
  <Application>Microsoft Office PowerPoint</Application>
  <PresentationFormat>Widescreen</PresentationFormat>
  <Paragraphs>21</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ModOverlayVTI</vt:lpstr>
      <vt:lpstr>Sales Report: CRM Insights for Managers</vt:lpstr>
      <vt:lpstr>Overview</vt:lpstr>
      <vt:lpstr>Goals for Sales Managers </vt:lpstr>
      <vt:lpstr>Questions </vt:lpstr>
      <vt:lpstr>Power BI Sales Report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Carolyn  Avanti</dc:creator>
  <cp:lastModifiedBy>Carolyn  Avanti</cp:lastModifiedBy>
  <cp:revision>32</cp:revision>
  <dcterms:created xsi:type="dcterms:W3CDTF">2025-11-19T16:02:01Z</dcterms:created>
  <dcterms:modified xsi:type="dcterms:W3CDTF">2025-12-02T20:57:58Z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